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Units Sold</c:v>
                </c:pt>
              </c:strCache>
            </c:strRef>
          </c:tx>
          <c:spPr>
            <a:solidFill>
              <a:srgbClr val="00D4E8"/>
            </a:solidFill>
            <a:effectLst/>
          </c:spPr>
          <c:invertIfNegative val="0"/>
          <c:dLbls>
            <c:numFmt formatCode="#,##0" sourceLinked="0"/>
            <c:txPr>
              <a:bodyPr/>
              <a:lstStyle/>
              <a:p>
                <a:pPr>
                  <a:defRPr b="0" i="0" strike="noStrike" sz="900" u="none">
                    <a:solidFill>
                      <a:srgbClr val="0A0A0A"/>
                    </a:solidFill>
                    <a:latin typeface="Arial"/>
                  </a:defRPr>
                </a:pPr>
              </a:p>
            </c:txPr>
            <c:showLegendKey val="0"/>
            <c:showVal val="1"/>
            <c:showCatName val="0"/>
            <c:showSerName val="0"/>
            <c:showPercent val="0"/>
            <c:showBubbleSize val="0"/>
            <c:showLeaderLines val="0"/>
          </c:dLbls>
          <c:dPt>
            <c:idx val="0"/>
            <c:invertIfNegative val="0"/>
            <c:bubble3D val="0"/>
            <c:spPr>
              <a:solidFill>
                <a:srgbClr val="00D4E8"/>
              </a:solidFill>
              <a:effectLst/>
            </c:spPr>
          </c:dPt>
          <c:dPt>
            <c:idx val="1"/>
            <c:invertIfNegative val="0"/>
            <c:bubble3D val="0"/>
            <c:spPr>
              <a:solidFill>
                <a:srgbClr val="00C4D8"/>
              </a:solidFill>
              <a:effectLst/>
            </c:spPr>
          </c:dPt>
          <c:dPt>
            <c:idx val="2"/>
            <c:invertIfNegative val="0"/>
            <c:bubble3D val="0"/>
            <c:spPr>
              <a:solidFill>
                <a:srgbClr val="00B4C8"/>
              </a:solidFill>
              <a:effectLst/>
            </c:spPr>
          </c:dPt>
          <c:dPt>
            <c:idx val="3"/>
            <c:invertIfNegative val="0"/>
            <c:bubble3D val="0"/>
            <c:spPr>
              <a:solidFill>
                <a:srgbClr val="00A4B8"/>
              </a:solidFill>
              <a:effectLst/>
            </c:spPr>
          </c:dPt>
          <c:dPt>
            <c:idx val="4"/>
            <c:invertIfNegative val="0"/>
            <c:bubble3D val="0"/>
            <c:spPr>
              <a:solidFill>
                <a:srgbClr val="0094A8"/>
              </a:solidFill>
              <a:effectLst/>
            </c:spPr>
          </c:dPt>
          <c:dPt>
            <c:idx val="5"/>
            <c:invertIfNegative val="0"/>
            <c:bubble3D val="0"/>
            <c:spPr>
              <a:solidFill>
                <a:srgbClr val="008498"/>
              </a:solidFill>
              <a:effectLst/>
            </c:spPr>
          </c:dPt>
          <c:dPt>
            <c:idx val="6"/>
            <c:invertIfNegative val="0"/>
            <c:bubble3D val="0"/>
            <c:spPr>
              <a:solidFill>
                <a:srgbClr val="007488"/>
              </a:solidFill>
              <a:effectLst/>
            </c:spPr>
          </c:dPt>
          <c:dPt>
            <c:idx val="7"/>
            <c:invertIfNegative val="0"/>
            <c:bubble3D val="0"/>
            <c:spPr>
              <a:solidFill>
                <a:srgbClr val="006478"/>
              </a:solidFill>
              <a:effectLst/>
            </c:spPr>
          </c:dPt>
          <c:dPt>
            <c:idx val="8"/>
            <c:invertIfNegative val="0"/>
            <c:bubble3D val="0"/>
            <c:spPr>
              <a:solidFill>
                <a:srgbClr val="005468"/>
              </a:solidFill>
              <a:effectLst/>
            </c:spPr>
          </c:dPt>
          <c:dPt>
            <c:idx val="9"/>
            <c:invertIfNegative val="0"/>
            <c:bubble3D val="0"/>
            <c:spPr>
              <a:solidFill>
                <a:srgbClr val="004458"/>
              </a:solidFill>
              <a:effectLst/>
            </c:spPr>
          </c:dPt>
          <c:cat>
            <c:multiLvlStrRef>
              <c:f>Sheet1!$A$2:$A$11</c:f>
              <c:multiLvlStrCache>
                <c:ptCount val="10"/>
                <c:lvl>
                  <c:pt idx="0">
                    <c:v>Ford</c:v>
                  </c:pt>
                  <c:pt idx="1">
                    <c:v>Chevrolet</c:v>
                  </c:pt>
                  <c:pt idx="2">
                    <c:v>Nissan</c:v>
                  </c:pt>
                  <c:pt idx="3">
                    <c:v>Toyota</c:v>
                  </c:pt>
                  <c:pt idx="4">
                    <c:v>Dodge</c:v>
                  </c:pt>
                  <c:pt idx="5">
                    <c:v>Honda</c:v>
                  </c:pt>
                  <c:pt idx="6">
                    <c:v>Hyundai</c:v>
                  </c:pt>
                  <c:pt idx="7">
                    <c:v>BMW</c:v>
                  </c:pt>
                  <c:pt idx="8">
                    <c:v>Kia</c:v>
                  </c:pt>
                  <c:pt idx="9">
                    <c:v>Chrysler</c:v>
                  </c:pt>
                </c:lvl>
              </c:multiLvlStrCache>
            </c:multiLvlStrRef>
          </c:cat>
          <c:val>
            <c:numRef>
              <c:f>Sheet1!$B$2:$B$11</c:f>
              <c:numCache>
                <c:formatCode>General</c:formatCode>
                <c:ptCount val="10"/>
                <c:pt idx="0">
                  <c:v>93000</c:v>
                </c:pt>
                <c:pt idx="1">
                  <c:v>60000</c:v>
                </c:pt>
                <c:pt idx="2">
                  <c:v>54000</c:v>
                </c:pt>
                <c:pt idx="3">
                  <c:v>40000</c:v>
                </c:pt>
                <c:pt idx="4">
                  <c:v>30000</c:v>
                </c:pt>
                <c:pt idx="5">
                  <c:v>27000</c:v>
                </c:pt>
                <c:pt idx="6">
                  <c:v>22000</c:v>
                </c:pt>
                <c:pt idx="7">
                  <c:v>21000</c:v>
                </c:pt>
                <c:pt idx="8">
                  <c:v>18500</c:v>
                </c:pt>
                <c:pt idx="9">
                  <c:v>18000</c:v>
                </c:pt>
              </c:numCache>
            </c:numRef>
          </c:val>
        </c:ser>
        <c:dLbls>
          <c:numFmt formatCode="#,##0" sourceLinked="0"/>
          <c:txPr>
            <a:bodyPr/>
            <a:lstStyle/>
            <a:p>
              <a:pPr>
                <a:defRPr b="0" i="0" strike="noStrike" sz="900" u="none">
                  <a:solidFill>
                    <a:srgbClr val="0A0A0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0" i="0" u="none" strike="noStrike">
                <a:solidFill>
                  <a:srgbClr val="334155"/>
                </a:solidFill>
                <a:latin typeface="Arial"/>
              </a:defRPr>
            </a:pPr>
            <a:r>
              <a:rPr sz="1200" b="0" i="0" u="none" strike="noStrike">
                <a:solidFill>
                  <a:srgbClr val="334155"/>
                </a:solidFill>
                <a:latin typeface="Arial"/>
              </a:rPr>
              <a:t>Avg Selling Price by Mileage Band (R)</a:t>
            </a:r>
          </a:p>
        </c:rich>
      </c:tx>
      <c:layout/>
      <c:overlay val="0"/>
    </c:title>
    <c:autoTitleDeleted val="0"/>
    <c:plotArea>
      <c:layout/>
      <c:barChart>
        <c:barDir val="bar"/>
        <c:grouping val="clustered"/>
        <c:varyColors val="0"/>
        <c:ser>
          <c:idx val="0"/>
          <c:order val="0"/>
          <c:tx>
            <c:strRef>
              <c:f>Sheet1!$B$1</c:f>
              <c:strCache>
                <c:ptCount val="1"/>
                <c:pt idx="0">
                  <c:v>Avg Selling Price (R)</c:v>
                </c:pt>
              </c:strCache>
            </c:strRef>
          </c:tx>
          <c:spPr>
            <a:solidFill>
              <a:srgbClr val="EF4444"/>
            </a:solidFill>
            <a:effectLst/>
          </c:spPr>
          <c:invertIfNegative val="0"/>
          <c:dLbls>
            <c:numFmt formatCode="#,##0" sourceLinked="0"/>
            <c:txPr>
              <a:bodyPr/>
              <a:lstStyle/>
              <a:p>
                <a:pPr>
                  <a:defRPr b="0" i="0" strike="noStrike" sz="1000" u="none">
                    <a:solidFill>
                      <a:srgbClr val="0A0A0A"/>
                    </a:solidFill>
                    <a:latin typeface="Arial"/>
                  </a:defRPr>
                </a:pPr>
              </a:p>
            </c:txPr>
            <c:showLegendKey val="0"/>
            <c:showVal val="1"/>
            <c:showCatName val="0"/>
            <c:showSerName val="0"/>
            <c:showPercent val="0"/>
            <c:showBubbleSize val="0"/>
            <c:showLeaderLines val="0"/>
          </c:dLbls>
          <c:dPt>
            <c:idx val="0"/>
            <c:invertIfNegative val="0"/>
            <c:bubble3D val="0"/>
            <c:spPr>
              <a:solidFill>
                <a:srgbClr val="EF4444"/>
              </a:solidFill>
              <a:effectLst/>
            </c:spPr>
          </c:dPt>
          <c:dPt>
            <c:idx val="1"/>
            <c:invertIfNegative val="0"/>
            <c:bubble3D val="0"/>
            <c:spPr>
              <a:solidFill>
                <a:srgbClr val="F59E0B"/>
              </a:solidFill>
              <a:effectLst/>
            </c:spPr>
          </c:dPt>
          <c:dPt>
            <c:idx val="2"/>
            <c:invertIfNegative val="0"/>
            <c:bubble3D val="0"/>
            <c:spPr>
              <a:solidFill>
                <a:srgbClr val="10B981"/>
              </a:solidFill>
              <a:effectLst/>
            </c:spPr>
          </c:dPt>
          <c:cat>
            <c:multiLvlStrRef>
              <c:f>Sheet1!$A$2:$A$4</c:f>
              <c:multiLvlStrCache>
                <c:ptCount val="3"/>
                <c:lvl>
                  <c:pt idx="0">
                    <c:v>High Mileage</c:v>
                  </c:pt>
                  <c:pt idx="1">
                    <c:v>Medium Mileage</c:v>
                  </c:pt>
                  <c:pt idx="2">
                    <c:v>Low Mileage</c:v>
                  </c:pt>
                </c:lvl>
              </c:multiLvlStrCache>
            </c:multiLvlStrRef>
          </c:cat>
          <c:val>
            <c:numRef>
              <c:f>Sheet1!$B$2:$B$4</c:f>
              <c:numCache>
                <c:formatCode>General</c:formatCode>
                <c:ptCount val="3"/>
                <c:pt idx="0">
                  <c:v>6200</c:v>
                </c:pt>
                <c:pt idx="1">
                  <c:v>15200</c:v>
                </c:pt>
                <c:pt idx="2">
                  <c:v>20500</c:v>
                </c:pt>
              </c:numCache>
            </c:numRef>
          </c:val>
        </c:ser>
        <c:dLbls>
          <c:numFmt formatCode="#,##0" sourceLinked="0"/>
          <c:txPr>
            <a:bodyPr/>
            <a:lstStyle/>
            <a:p>
              <a:pPr>
                <a:defRPr b="0" i="0" strike="noStrike" sz="1000" u="none">
                  <a:solidFill>
                    <a:srgbClr val="0A0A0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0" i="0" u="none" strike="noStrike">
                <a:solidFill>
                  <a:srgbClr val="334155"/>
                </a:solidFill>
                <a:latin typeface="Arial"/>
              </a:defRPr>
            </a:pPr>
            <a:r>
              <a:rPr sz="1200" b="0" i="0" u="none" strike="noStrike">
                <a:solidFill>
                  <a:srgbClr val="334155"/>
                </a:solidFill>
                <a:latin typeface="Arial"/>
              </a:rPr>
              <a:t>Total Revenue Share by Mileage</a:t>
            </a:r>
          </a:p>
        </c:rich>
      </c:tx>
      <c:layout/>
      <c:overlay val="0"/>
    </c:title>
    <c:autoTitleDeleted val="0"/>
    <c:plotArea>
      <c:layout/>
      <c:doughnutChart>
        <c:varyColors val="1"/>
        <c:ser>
          <c:idx val="0"/>
          <c:order val="0"/>
          <c:tx>
            <c:strRef>
              <c:f>Sheet1!$B$1</c:f>
              <c:strCache>
                <c:ptCount val="1"/>
                <c:pt idx="0">
                  <c:v>Revenue Share</c:v>
                </c:pt>
              </c:strCache>
            </c:strRef>
          </c:tx>
          <c:spPr>
            <a:solidFill>
              <a:schemeClr val="accent1"/>
            </a:solidFill>
            <a:ln w="9525" cap="flat">
              <a:solidFill>
                <a:srgbClr val="F9F9F9"/>
              </a:solidFill>
              <a:prstDash val="solid"/>
              <a:round/>
            </a:ln>
            <a:effectLst/>
          </c:spPr>
          <c:dPt>
            <c:idx val="0"/>
            <c:bubble3D val="0"/>
            <c:spPr>
              <a:solidFill>
                <a:srgbClr val="EF4444"/>
              </a:solidFill>
              <a:effectLst/>
            </c:spPr>
          </c:dPt>
          <c:dPt>
            <c:idx val="1"/>
            <c:bubble3D val="0"/>
            <c:spPr>
              <a:solidFill>
                <a:srgbClr val="F59E0B"/>
              </a:solidFill>
              <a:effectLst/>
            </c:spPr>
          </c:dPt>
          <c:dPt>
            <c:idx val="2"/>
            <c:bubble3D val="0"/>
            <c:spPr>
              <a:solidFill>
                <a:srgbClr val="10B981"/>
              </a:solidFill>
              <a:effectLst/>
            </c:spPr>
          </c:dPt>
          <c:dLbls>
            <c:dLbl>
              <c:idx val="0"/>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2"/>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High Mileage (15%)</c:v>
                </c:pt>
                <c:pt idx="1">
                  <c:v>Low Mileage (41%)</c:v>
                </c:pt>
                <c:pt idx="2">
                  <c:v>Medium Mileage (44%)</c:v>
                </c:pt>
              </c:strCache>
            </c:strRef>
          </c:cat>
          <c:val>
            <c:numRef>
              <c:f>Sheet1!$B$2:$B$4</c:f>
              <c:numCache>
                <c:ptCount val="3"/>
                <c:pt idx="0">
                  <c:v>15</c:v>
                </c:pt>
                <c:pt idx="1">
                  <c:v>41</c:v>
                </c:pt>
                <c:pt idx="2">
                  <c:v>44</c:v>
                </c:pt>
              </c:numCache>
            </c:numRef>
          </c:val>
        </c:ser>
        <c:firstSliceAng val="0"/>
        <c:holeSize val="50"/>
      </c:doughnutChart>
      <c:spPr>
        <a:noFill/>
        <a:ln>
          <a:noFill/>
        </a:ln>
        <a:effectLst/>
      </c:spPr>
    </c:plotArea>
    <c:legend>
      <c:legendPos val="b"/>
      <c:overlay val="0"/>
      <c:txPr>
        <a:bodyPr/>
        <a:lstStyle/>
        <a:p>
          <a:pPr>
            <a:defRPr sz="1000">
              <a:solidFill>
                <a:srgbClr val="334155"/>
              </a:solidFil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100" b="0" i="0" u="none" strike="noStrike">
                <a:solidFill>
                  <a:srgbClr val="94A3B8"/>
                </a:solidFill>
                <a:latin typeface="Arial"/>
              </a:defRPr>
            </a:pPr>
            <a:r>
              <a:rPr sz="1100" b="0" i="0" u="none" strike="noStrike">
                <a:solidFill>
                  <a:srgbClr val="94A3B8"/>
                </a:solidFill>
                <a:latin typeface="Arial"/>
              </a:rPr>
              <a:t>Average Selling Price Per Year (2009–2015)</a:t>
            </a:r>
          </a:p>
        </c:rich>
      </c:tx>
      <c:layout/>
      <c:overlay val="0"/>
    </c:title>
    <c:autoTitleDeleted val="0"/>
    <c:plotArea>
      <c:layout/>
      <c:barChart>
        <c:barDir val="col"/>
        <c:grouping val="clustered"/>
        <c:varyColors val="0"/>
        <c:ser>
          <c:idx val="0"/>
          <c:order val="0"/>
          <c:tx>
            <c:strRef>
              <c:f>Sheet1!$B$1</c:f>
              <c:strCache>
                <c:ptCount val="1"/>
                <c:pt idx="0">
                  <c:v>Avg Price (R)</c:v>
                </c:pt>
              </c:strCache>
            </c:strRef>
          </c:tx>
          <c:spPr>
            <a:solidFill>
              <a:srgbClr val="00D4E8"/>
            </a:solidFill>
            <a:effectLst/>
          </c:spPr>
          <c:invertIfNegative val="0"/>
          <c:dLbls>
            <c:numFmt formatCode="#,##0" sourceLinked="0"/>
            <c:txPr>
              <a:bodyPr/>
              <a:lstStyle/>
              <a:p>
                <a:pPr>
                  <a:defRPr b="0" i="0" strike="noStrike" sz="900" u="none">
                    <a:solidFill>
                      <a:srgbClr val="00D4E8"/>
                    </a:solidFill>
                    <a:latin typeface="Arial"/>
                  </a:defRPr>
                </a:pPr>
              </a:p>
            </c:txPr>
            <c:showLegendKey val="0"/>
            <c:showVal val="1"/>
            <c:showCatName val="0"/>
            <c:showSerName val="0"/>
            <c:showPercent val="0"/>
            <c:showBubbleSize val="0"/>
            <c:showLeaderLines val="0"/>
          </c:dLbls>
          <c:cat>
            <c:multiLvlStrRef>
              <c:f>Sheet1!$A$2:$A$8</c:f>
              <c:multiLvlStrCache>
                <c:ptCount val="7"/>
                <c:lvl>
                  <c:pt idx="0">
                    <c:v>2009</c:v>
                  </c:pt>
                  <c:pt idx="1">
                    <c:v>2010</c:v>
                  </c:pt>
                  <c:pt idx="2">
                    <c:v>2011</c:v>
                  </c:pt>
                  <c:pt idx="3">
                    <c:v>2012</c:v>
                  </c:pt>
                  <c:pt idx="4">
                    <c:v>2013</c:v>
                  </c:pt>
                  <c:pt idx="5">
                    <c:v>2014</c:v>
                  </c:pt>
                  <c:pt idx="6">
                    <c:v>2015</c:v>
                  </c:pt>
                </c:lvl>
              </c:multiLvlStrCache>
            </c:multiLvlStrRef>
          </c:cat>
          <c:val>
            <c:numRef>
              <c:f>Sheet1!$B$2:$B$8</c:f>
              <c:numCache>
                <c:formatCode>General</c:formatCode>
                <c:ptCount val="7"/>
                <c:pt idx="0">
                  <c:v>9200</c:v>
                </c:pt>
                <c:pt idx="1">
                  <c:v>11500</c:v>
                </c:pt>
                <c:pt idx="2">
                  <c:v>14200</c:v>
                </c:pt>
                <c:pt idx="3">
                  <c:v>15000</c:v>
                </c:pt>
                <c:pt idx="4">
                  <c:v>16500</c:v>
                </c:pt>
                <c:pt idx="5">
                  <c:v>19800</c:v>
                </c:pt>
                <c:pt idx="6">
                  <c:v>26500</c:v>
                </c:pt>
              </c:numCache>
            </c:numRef>
          </c:val>
        </c:ser>
        <c:dLbls>
          <c:numFmt formatCode="#,##0" sourceLinked="0"/>
          <c:txPr>
            <a:bodyPr/>
            <a:lstStyle/>
            <a:p>
              <a:pPr>
                <a:defRPr b="0" i="0" strike="noStrike" sz="900" u="none">
                  <a:solidFill>
                    <a:srgbClr val="00D4E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D2D2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E1E1E"/>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100" b="0" i="0" u="none" strike="noStrike">
                <a:solidFill>
                  <a:srgbClr val="94A3B8"/>
                </a:solidFill>
                <a:latin typeface="Arial"/>
              </a:defRPr>
            </a:pPr>
            <a:r>
              <a:rPr sz="1100" b="0" i="0" u="none" strike="noStrike">
                <a:solidFill>
                  <a:srgbClr val="94A3B8"/>
                </a:solidFill>
                <a:latin typeface="Arial"/>
              </a:rPr>
              <a:t>Revenue by Transmission Type (R Billions)</a:t>
            </a:r>
          </a:p>
        </c:rich>
      </c:tx>
      <c:layout/>
      <c:overlay val="0"/>
    </c:title>
    <c:autoTitleDeleted val="0"/>
    <c:plotArea>
      <c:layout/>
      <c:barChart>
        <c:barDir val="col"/>
        <c:grouping val="clustered"/>
        <c:varyColors val="0"/>
        <c:ser>
          <c:idx val="0"/>
          <c:order val="0"/>
          <c:tx>
            <c:strRef>
              <c:f>Sheet1!$B$1</c:f>
              <c:strCache>
                <c:ptCount val="1"/>
                <c:pt idx="0">
                  <c:v>Revenue (R Billions)</c:v>
                </c:pt>
              </c:strCache>
            </c:strRef>
          </c:tx>
          <c:spPr>
            <a:solidFill>
              <a:srgbClr val="10B981"/>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10B981"/>
              </a:solidFill>
              <a:effectLst/>
            </c:spPr>
          </c:dPt>
          <c:dPt>
            <c:idx val="1"/>
            <c:invertIfNegative val="0"/>
            <c:bubble3D val="0"/>
            <c:spPr>
              <a:solidFill>
                <a:srgbClr val="F59E0B"/>
              </a:solidFill>
              <a:effectLst/>
            </c:spPr>
          </c:dPt>
          <c:dPt>
            <c:idx val="2"/>
            <c:invertIfNegative val="0"/>
            <c:bubble3D val="0"/>
            <c:spPr>
              <a:solidFill>
                <a:srgbClr val="EF4444"/>
              </a:solidFill>
              <a:effectLst/>
            </c:spPr>
          </c:dPt>
          <c:cat>
            <c:multiLvlStrRef>
              <c:f>Sheet1!$A$2:$A$4</c:f>
              <c:multiLvlStrCache>
                <c:ptCount val="3"/>
                <c:lvl>
                  <c:pt idx="0">
                    <c:v>Automatic</c:v>
                  </c:pt>
                  <c:pt idx="1">
                    <c:v>Unknown</c:v>
                  </c:pt>
                  <c:pt idx="2">
                    <c:v>Manual</c:v>
                  </c:pt>
                </c:lvl>
              </c:multiLvlStrCache>
            </c:multiLvlStrRef>
          </c:cat>
          <c:val>
            <c:numRef>
              <c:f>Sheet1!$B$2:$B$4</c:f>
              <c:numCache>
                <c:formatCode>General</c:formatCode>
                <c:ptCount val="3"/>
                <c:pt idx="0">
                  <c:v>6.5</c:v>
                </c:pt>
                <c:pt idx="1">
                  <c:v>0.95</c:v>
                </c:pt>
                <c:pt idx="2">
                  <c:v>0.15</c:v>
                </c:pt>
              </c:numCache>
            </c:numRef>
          </c:val>
        </c:ser>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D2D2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E1E1E"/>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000" b="0" i="0" u="none" strike="noStrike">
                <a:solidFill>
                  <a:srgbClr val="94A3B8"/>
                </a:solidFill>
                <a:latin typeface="Arial"/>
              </a:defRPr>
            </a:pPr>
            <a:r>
              <a:rPr sz="1000" b="0" i="0" u="none" strike="noStrike">
                <a:solidFill>
                  <a:srgbClr val="94A3B8"/>
                </a:solidFill>
                <a:latin typeface="Arial"/>
              </a:rPr>
              <a:t>Top 5 Brands — Units Sold</a:t>
            </a:r>
          </a:p>
        </c:rich>
      </c:tx>
      <c:layout/>
      <c:overlay val="0"/>
    </c:title>
    <c:autoTitleDeleted val="0"/>
    <c:plotArea>
      <c:layout/>
      <c:barChart>
        <c:barDir val="col"/>
        <c:grouping val="clustered"/>
        <c:varyColors val="0"/>
        <c:ser>
          <c:idx val="0"/>
          <c:order val="0"/>
          <c:tx>
            <c:strRef>
              <c:f>Sheet1!$B$1</c:f>
              <c:strCache>
                <c:ptCount val="1"/>
                <c:pt idx="0">
                  <c:v>Units</c:v>
                </c:pt>
              </c:strCache>
            </c:strRef>
          </c:tx>
          <c:spPr>
            <a:solidFill>
              <a:srgbClr val="00D4E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00D4E8"/>
              </a:solidFill>
              <a:effectLst/>
            </c:spPr>
          </c:dPt>
          <c:dPt>
            <c:idx val="1"/>
            <c:invertIfNegative val="0"/>
            <c:bubble3D val="0"/>
            <c:spPr>
              <a:solidFill>
                <a:srgbClr val="00B4C8"/>
              </a:solidFill>
              <a:effectLst/>
            </c:spPr>
          </c:dPt>
          <c:dPt>
            <c:idx val="2"/>
            <c:invertIfNegative val="0"/>
            <c:bubble3D val="0"/>
            <c:spPr>
              <a:solidFill>
                <a:srgbClr val="0094A8"/>
              </a:solidFill>
              <a:effectLst/>
            </c:spPr>
          </c:dPt>
          <c:dPt>
            <c:idx val="3"/>
            <c:invertIfNegative val="0"/>
            <c:bubble3D val="0"/>
            <c:spPr>
              <a:solidFill>
                <a:srgbClr val="007488"/>
              </a:solidFill>
              <a:effectLst/>
            </c:spPr>
          </c:dPt>
          <c:dPt>
            <c:idx val="4"/>
            <c:invertIfNegative val="0"/>
            <c:bubble3D val="0"/>
            <c:spPr>
              <a:solidFill>
                <a:srgbClr val="005468"/>
              </a:solidFill>
              <a:effectLst/>
            </c:spPr>
          </c:dPt>
          <c:cat>
            <c:multiLvlStrRef>
              <c:f>Sheet1!$A$2:$A$6</c:f>
              <c:multiLvlStrCache>
                <c:ptCount val="5"/>
                <c:lvl>
                  <c:pt idx="0">
                    <c:v>Ford</c:v>
                  </c:pt>
                  <c:pt idx="1">
                    <c:v>Chevrolet</c:v>
                  </c:pt>
                  <c:pt idx="2">
                    <c:v>Nissan</c:v>
                  </c:pt>
                  <c:pt idx="3">
                    <c:v>Toyota</c:v>
                  </c:pt>
                  <c:pt idx="4">
                    <c:v>Dodge</c:v>
                  </c:pt>
                </c:lvl>
              </c:multiLvlStrCache>
            </c:multiLvlStrRef>
          </c:cat>
          <c:val>
            <c:numRef>
              <c:f>Sheet1!$B$2:$B$6</c:f>
              <c:numCache>
                <c:formatCode>General</c:formatCode>
                <c:ptCount val="5"/>
                <c:pt idx="0">
                  <c:v>93000</c:v>
                </c:pt>
                <c:pt idx="1">
                  <c:v>60000</c:v>
                </c:pt>
                <c:pt idx="2">
                  <c:v>54000</c:v>
                </c:pt>
                <c:pt idx="3">
                  <c:v>40000</c:v>
                </c:pt>
                <c:pt idx="4">
                  <c:v>30000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D2D2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E1E1E"/>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000" b="0" i="0" u="none" strike="noStrike">
                <a:solidFill>
                  <a:srgbClr val="94A3B8"/>
                </a:solidFill>
                <a:latin typeface="Arial"/>
              </a:defRPr>
            </a:pPr>
            <a:r>
              <a:rPr sz="1000" b="0" i="0" u="none" strike="noStrike">
                <a:solidFill>
                  <a:srgbClr val="94A3B8"/>
                </a:solidFill>
                <a:latin typeface="Arial"/>
              </a:rPr>
              <a:t>Revenue by State</a:t>
            </a:r>
          </a:p>
        </c:rich>
      </c:tx>
      <c:layout/>
      <c:overlay val="0"/>
    </c:title>
    <c:autoTitleDeleted val="0"/>
    <c:plotArea>
      <c:layout/>
      <c:pieChart>
        <c:varyColors val="1"/>
        <c:ser>
          <c:idx val="0"/>
          <c:order val="0"/>
          <c:tx>
            <c:strRef>
              <c:f>Sheet1!$B$1</c:f>
              <c:strCache>
                <c:ptCount val="1"/>
                <c:pt idx="0">
                  <c:v>Revenue</c:v>
                </c:pt>
              </c:strCache>
            </c:strRef>
          </c:tx>
          <c:spPr>
            <a:solidFill>
              <a:schemeClr val="accent1"/>
            </a:solidFill>
            <a:ln w="9525" cap="flat">
              <a:solidFill>
                <a:srgbClr val="F9F9F9"/>
              </a:solidFill>
              <a:prstDash val="solid"/>
              <a:round/>
            </a:ln>
            <a:effectLst/>
          </c:spPr>
          <c:dPt>
            <c:idx val="0"/>
            <c:bubble3D val="0"/>
            <c:spPr>
              <a:solidFill>
                <a:srgbClr val="00D4E8"/>
              </a:solidFill>
              <a:effectLst/>
            </c:spPr>
          </c:dPt>
          <c:dPt>
            <c:idx val="1"/>
            <c:bubble3D val="0"/>
            <c:spPr>
              <a:solidFill>
                <a:srgbClr val="00A8B8"/>
              </a:solidFill>
              <a:effectLst/>
            </c:spPr>
          </c:dPt>
          <c:dPt>
            <c:idx val="2"/>
            <c:bubble3D val="0"/>
            <c:spPr>
              <a:solidFill>
                <a:srgbClr val="008898"/>
              </a:solidFill>
              <a:effectLst/>
            </c:spPr>
          </c:dPt>
          <c:dPt>
            <c:idx val="3"/>
            <c:bubble3D val="0"/>
            <c:spPr>
              <a:solidFill>
                <a:srgbClr val="006878"/>
              </a:solidFill>
              <a:effectLst/>
            </c:spPr>
          </c:dPt>
          <c:dPt>
            <c:idx val="4"/>
            <c:bubble3D val="0"/>
            <c:spPr>
              <a:solidFill>
                <a:srgbClr val="004858"/>
              </a:solidFill>
              <a:effectLst/>
            </c:spPr>
          </c:dPt>
          <c:dLbls>
            <c:dLbl>
              <c:idx val="0"/>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2"/>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3"/>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4"/>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FL</c:v>
                </c:pt>
                <c:pt idx="1">
                  <c:v>CA</c:v>
                </c:pt>
                <c:pt idx="2">
                  <c:v>PA</c:v>
                </c:pt>
                <c:pt idx="3">
                  <c:v>TX</c:v>
                </c:pt>
                <c:pt idx="4">
                  <c:v>GA</c:v>
                </c:pt>
              </c:strCache>
            </c:strRef>
          </c:cat>
          <c:val>
            <c:numRef>
              <c:f>Sheet1!$B$2:$B$6</c:f>
              <c:numCache>
                <c:ptCount val="5"/>
                <c:pt idx="0">
                  <c:v>1151064556</c:v>
                </c:pt>
                <c:pt idx="1">
                  <c:v>1061077777</c:v>
                </c:pt>
                <c:pt idx="2">
                  <c:v>861234573</c:v>
                </c:pt>
                <c:pt idx="3">
                  <c:v>606495361</c:v>
                </c:pt>
                <c:pt idx="4">
                  <c:v>448927414</c:v>
                </c:pt>
              </c:numCache>
            </c:numRef>
          </c:val>
        </c:ser>
        <c:firstSliceAng val="0"/>
      </c:pieChart>
      <c:spPr>
        <a:noFill/>
        <a:ln>
          <a:noFill/>
        </a:ln>
        <a:effectLst/>
      </c:spPr>
    </c:plotArea>
    <c:legend>
      <c:legendPos val="r"/>
      <c:overlay val="0"/>
      <c:txPr>
        <a:bodyPr/>
        <a:lstStyle/>
        <a:p>
          <a:pPr>
            <a:defRPr sz="1000">
              <a:solidFill>
                <a:srgbClr val="94A3B8"/>
              </a:solidFill>
            </a:defRPr>
          </a:pPr>
          <a:endParaRPr lang="en-US"/>
        </a:p>
      </c:txPr>
    </c:legend>
    <c:plotVisOnly val="1"/>
    <c:dispBlanksAs val="span"/>
  </c:chart>
  <c:spPr>
    <a:solidFill>
      <a:srgbClr val="1E1E1E"/>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000" b="0" i="0" u="none" strike="noStrike">
                <a:solidFill>
                  <a:srgbClr val="94A3B8"/>
                </a:solidFill>
                <a:latin typeface="Arial"/>
              </a:defRPr>
            </a:pPr>
            <a:r>
              <a:rPr sz="1000" b="0" i="0" u="none" strike="noStrike">
                <a:solidFill>
                  <a:srgbClr val="94A3B8"/>
                </a:solidFill>
                <a:latin typeface="Arial"/>
              </a:rPr>
              <a:t>Revenue by Transmission (R Billions)</a:t>
            </a:r>
          </a:p>
        </c:rich>
      </c:tx>
      <c:layout/>
      <c:overlay val="0"/>
    </c:title>
    <c:autoTitleDeleted val="0"/>
    <c:plotArea>
      <c:layout/>
      <c:doughnutChart>
        <c:varyColors val="1"/>
        <c:ser>
          <c:idx val="0"/>
          <c:order val="0"/>
          <c:tx>
            <c:strRef>
              <c:f>Sheet1!$B$1</c:f>
              <c:strCache>
                <c:ptCount val="1"/>
                <c:pt idx="0">
                  <c:v>Revenue</c:v>
                </c:pt>
              </c:strCache>
            </c:strRef>
          </c:tx>
          <c:spPr>
            <a:solidFill>
              <a:schemeClr val="accent1"/>
            </a:solidFill>
            <a:ln w="9525" cap="flat">
              <a:solidFill>
                <a:srgbClr val="F9F9F9"/>
              </a:solidFill>
              <a:prstDash val="solid"/>
              <a:round/>
            </a:ln>
            <a:effectLst/>
          </c:spPr>
          <c:dPt>
            <c:idx val="0"/>
            <c:bubble3D val="0"/>
            <c:spPr>
              <a:solidFill>
                <a:srgbClr val="10B981"/>
              </a:solidFill>
              <a:effectLst/>
            </c:spPr>
          </c:dPt>
          <c:dPt>
            <c:idx val="1"/>
            <c:bubble3D val="0"/>
            <c:spPr>
              <a:solidFill>
                <a:srgbClr val="F59E0B"/>
              </a:solidFill>
              <a:effectLst/>
            </c:spPr>
          </c:dPt>
          <c:dPt>
            <c:idx val="2"/>
            <c:bubble3D val="0"/>
            <c:spPr>
              <a:solidFill>
                <a:srgbClr val="EF4444"/>
              </a:solidFill>
              <a:effectLst/>
            </c:spPr>
          </c:dPt>
          <c:dLbls>
            <c:dLbl>
              <c:idx val="0"/>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2"/>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Automatic</c:v>
                </c:pt>
                <c:pt idx="1">
                  <c:v>Unknown</c:v>
                </c:pt>
                <c:pt idx="2">
                  <c:v>Manual</c:v>
                </c:pt>
              </c:strCache>
            </c:strRef>
          </c:cat>
          <c:val>
            <c:numRef>
              <c:f>Sheet1!$B$2:$B$4</c:f>
              <c:numCache>
                <c:ptCount val="3"/>
                <c:pt idx="0">
                  <c:v>6500</c:v>
                </c:pt>
                <c:pt idx="1">
                  <c:v>950</c:v>
                </c:pt>
                <c:pt idx="2">
                  <c:v>150</c:v>
                </c:pt>
              </c:numCache>
            </c:numRef>
          </c:val>
        </c:ser>
        <c:firstSliceAng val="0"/>
        <c:holeSize val="55"/>
      </c:doughnutChart>
      <c:spPr>
        <a:noFill/>
        <a:ln>
          <a:noFill/>
        </a:ln>
        <a:effectLst/>
      </c:spPr>
    </c:plotArea>
    <c:legend>
      <c:legendPos val="b"/>
      <c:overlay val="0"/>
      <c:txPr>
        <a:bodyPr/>
        <a:lstStyle/>
        <a:p>
          <a:pPr>
            <a:defRPr sz="900">
              <a:solidFill>
                <a:srgbClr val="94A3B8"/>
              </a:solidFill>
            </a:defRPr>
          </a:pPr>
          <a:endParaRPr lang="en-US"/>
        </a:p>
      </c:txPr>
    </c:legend>
    <c:plotVisOnly val="1"/>
    <c:dispBlanksAs val="span"/>
  </c:chart>
  <c:spPr>
    <a:solidFill>
      <a:srgbClr val="1E1E1E"/>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000" b="0" i="0" u="none" strike="noStrike">
                <a:solidFill>
                  <a:srgbClr val="94A3B8"/>
                </a:solidFill>
                <a:latin typeface="Arial"/>
              </a:defRPr>
            </a:pPr>
            <a:r>
              <a:rPr sz="1000" b="0" i="0" u="none" strike="noStrike">
                <a:solidFill>
                  <a:srgbClr val="94A3B8"/>
                </a:solidFill>
                <a:latin typeface="Arial"/>
              </a:rPr>
              <a:t>Avg Price by Mileage Band (R)</a:t>
            </a:r>
          </a:p>
        </c:rich>
      </c:tx>
      <c:layout/>
      <c:overlay val="0"/>
    </c:title>
    <c:autoTitleDeleted val="0"/>
    <c:plotArea>
      <c:layout/>
      <c:barChart>
        <c:barDir val="bar"/>
        <c:grouping val="clustered"/>
        <c:varyColors val="0"/>
        <c:ser>
          <c:idx val="0"/>
          <c:order val="0"/>
          <c:tx>
            <c:strRef>
              <c:f>Sheet1!$B$1</c:f>
              <c:strCache>
                <c:ptCount val="1"/>
                <c:pt idx="0">
                  <c:v>Avg Price</c:v>
                </c:pt>
              </c:strCache>
            </c:strRef>
          </c:tx>
          <c:spPr>
            <a:solidFill>
              <a:srgbClr val="EF444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EF4444"/>
              </a:solidFill>
              <a:effectLst/>
            </c:spPr>
          </c:dPt>
          <c:dPt>
            <c:idx val="1"/>
            <c:invertIfNegative val="0"/>
            <c:bubble3D val="0"/>
            <c:spPr>
              <a:solidFill>
                <a:srgbClr val="F59E0B"/>
              </a:solidFill>
              <a:effectLst/>
            </c:spPr>
          </c:dPt>
          <c:dPt>
            <c:idx val="2"/>
            <c:invertIfNegative val="0"/>
            <c:bubble3D val="0"/>
            <c:spPr>
              <a:solidFill>
                <a:srgbClr val="10B981"/>
              </a:solidFill>
              <a:effectLst/>
            </c:spPr>
          </c:dPt>
          <c:cat>
            <c:multiLvlStrRef>
              <c:f>Sheet1!$A$2:$A$4</c:f>
              <c:multiLvlStrCache>
                <c:ptCount val="3"/>
                <c:lvl>
                  <c:pt idx="0">
                    <c:v>High Mileage</c:v>
                  </c:pt>
                  <c:pt idx="1">
                    <c:v>Medium Mileage</c:v>
                  </c:pt>
                  <c:pt idx="2">
                    <c:v>Low Mileage</c:v>
                  </c:pt>
                </c:lvl>
              </c:multiLvlStrCache>
            </c:multiLvlStrRef>
          </c:cat>
          <c:val>
            <c:numRef>
              <c:f>Sheet1!$B$2:$B$4</c:f>
              <c:numCache>
                <c:formatCode>General</c:formatCode>
                <c:ptCount val="3"/>
                <c:pt idx="0">
                  <c:v>6200</c:v>
                </c:pt>
                <c:pt idx="1">
                  <c:v>15200</c:v>
                </c:pt>
                <c:pt idx="2">
                  <c:v>20500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2D2D2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E1E1E"/>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000" b="0" i="0" u="none" strike="noStrike">
                <a:solidFill>
                  <a:srgbClr val="94A3B8"/>
                </a:solidFill>
                <a:latin typeface="Arial"/>
              </a:defRPr>
            </a:pPr>
            <a:r>
              <a:rPr sz="1000" b="0" i="0" u="none" strike="noStrike">
                <a:solidFill>
                  <a:srgbClr val="94A3B8"/>
                </a:solidFill>
                <a:latin typeface="Arial"/>
              </a:rPr>
              <a:t>Avg Selling Price Per Year (R)</a:t>
            </a:r>
          </a:p>
        </c:rich>
      </c:tx>
      <c:layout/>
      <c:overlay val="0"/>
    </c:title>
    <c:autoTitleDeleted val="0"/>
    <c:plotArea>
      <c:layout/>
      <c:lineChart>
        <c:varyColors val="0"/>
        <c:ser>
          <c:idx val="0"/>
          <c:order val="0"/>
          <c:tx>
            <c:strRef>
              <c:f>Sheet1!$B$1</c:f>
              <c:strCache>
                <c:ptCount val="1"/>
                <c:pt idx="0">
                  <c:v>Avg Price</c:v>
                </c:pt>
              </c:strCache>
            </c:strRef>
          </c:tx>
          <c:spPr>
            <a:solidFill>
              <a:srgbClr val="00D4E8"/>
            </a:solidFill>
            <a:ln w="25400" cap="flat">
              <a:solidFill>
                <a:srgbClr val="00D4E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0D4E8"/>
              </a:solidFill>
              <a:ln w="9525" cap="flat">
                <a:solidFill>
                  <a:srgbClr val="00D4E8"/>
                </a:solidFill>
                <a:prstDash val="solid"/>
                <a:round/>
              </a:ln>
              <a:effectLst/>
            </c:spPr>
          </c:marker>
          <c:cat>
            <c:multiLvlStrRef>
              <c:f>Sheet1!$A$2:$A$8</c:f>
              <c:multiLvlStrCache>
                <c:ptCount val="7"/>
                <c:lvl>
                  <c:pt idx="0">
                    <c:v>2009</c:v>
                  </c:pt>
                  <c:pt idx="1">
                    <c:v>2010</c:v>
                  </c:pt>
                  <c:pt idx="2">
                    <c:v>2011</c:v>
                  </c:pt>
                  <c:pt idx="3">
                    <c:v>2012</c:v>
                  </c:pt>
                  <c:pt idx="4">
                    <c:v>2013</c:v>
                  </c:pt>
                  <c:pt idx="5">
                    <c:v>2014</c:v>
                  </c:pt>
                  <c:pt idx="6">
                    <c:v>2015</c:v>
                  </c:pt>
                </c:lvl>
              </c:multiLvlStrCache>
            </c:multiLvlStrRef>
          </c:cat>
          <c:val>
            <c:numRef>
              <c:f>Sheet1!$B$2:$B$8</c:f>
              <c:numCache>
                <c:formatCode>General</c:formatCode>
                <c:ptCount val="7"/>
                <c:pt idx="0">
                  <c:v>9200</c:v>
                </c:pt>
                <c:pt idx="1">
                  <c:v>11500</c:v>
                </c:pt>
                <c:pt idx="2">
                  <c:v>14200</c:v>
                </c:pt>
                <c:pt idx="3">
                  <c:v>15000</c:v>
                </c:pt>
                <c:pt idx="4">
                  <c:v>16500</c:v>
                </c:pt>
                <c:pt idx="5">
                  <c:v>19800</c:v>
                </c:pt>
                <c:pt idx="6">
                  <c:v>26500</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D2D2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E1E1E"/>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chart" Target="/ppt/charts/chart8.xml"/><Relationship Id="rId4" Type="http://schemas.openxmlformats.org/officeDocument/2006/relationships/chart" Target="/ppt/charts/chart9.xml"/><Relationship Id="rId5" Type="http://schemas.openxmlformats.org/officeDocument/2006/relationships/chart" Target="/ppt/charts/chart10.xml"/><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D4E8"/>
          </a:solidFill>
          <a:ln w="12700">
            <a:solidFill>
              <a:srgbClr val="00D4E8"/>
            </a:solidFill>
            <a:prstDash val="solid"/>
          </a:ln>
        </p:spPr>
      </p:sp>
      <p:sp>
        <p:nvSpPr>
          <p:cNvPr id="3" name="Shape 1"/>
          <p:cNvSpPr/>
          <p:nvPr/>
        </p:nvSpPr>
        <p:spPr>
          <a:xfrm>
            <a:off x="0" y="4846320"/>
            <a:ext cx="9144000" cy="297180"/>
          </a:xfrm>
          <a:prstGeom prst="rect">
            <a:avLst/>
          </a:prstGeom>
          <a:solidFill>
            <a:srgbClr val="1E1E1E"/>
          </a:solidFill>
          <a:ln w="12700">
            <a:solidFill>
              <a:srgbClr val="1E1E1E"/>
            </a:solidFill>
            <a:prstDash val="solid"/>
          </a:ln>
        </p:spPr>
      </p:sp>
      <p:sp>
        <p:nvSpPr>
          <p:cNvPr id="4" name="Shape 2"/>
          <p:cNvSpPr/>
          <p:nvPr/>
        </p:nvSpPr>
        <p:spPr>
          <a:xfrm>
            <a:off x="0" y="4828032"/>
            <a:ext cx="9144000" cy="45720"/>
          </a:xfrm>
          <a:prstGeom prst="rect">
            <a:avLst/>
          </a:prstGeom>
          <a:solidFill>
            <a:srgbClr val="00D4E8"/>
          </a:solidFill>
          <a:ln w="12700">
            <a:solidFill>
              <a:srgbClr val="00D4E8"/>
            </a:solidFill>
            <a:prstDash val="solid"/>
          </a:ln>
        </p:spPr>
      </p:sp>
      <p:sp>
        <p:nvSpPr>
          <p:cNvPr id="5" name="Text 3"/>
          <p:cNvSpPr/>
          <p:nvPr/>
        </p:nvSpPr>
        <p:spPr>
          <a:xfrm>
            <a:off x="320040" y="1005840"/>
            <a:ext cx="8229600" cy="914400"/>
          </a:xfrm>
          <a:prstGeom prst="rect">
            <a:avLst/>
          </a:prstGeom>
          <a:noFill/>
          <a:ln/>
        </p:spPr>
        <p:txBody>
          <a:bodyPr wrap="square" lIns="0" tIns="0" rIns="0" bIns="0" rtlCol="0" anchor="ctr"/>
          <a:lstStyle/>
          <a:p>
            <a:pPr algn="l" indent="0" marL="0">
              <a:buNone/>
            </a:pPr>
            <a:r>
              <a:rPr lang="en-US" sz="6800" b="1" dirty="0">
                <a:solidFill>
                  <a:srgbClr val="00D4E8"/>
                </a:solidFill>
                <a:latin typeface="Arial Black" pitchFamily="34" charset="0"/>
                <a:ea typeface="Arial Black" pitchFamily="34" charset="-122"/>
                <a:cs typeface="Arial Black" pitchFamily="34" charset="-120"/>
              </a:rPr>
              <a:t>BRIGHT CAR</a:t>
            </a:r>
            <a:endParaRPr lang="en-US" sz="6800" dirty="0"/>
          </a:p>
        </p:txBody>
      </p:sp>
      <p:sp>
        <p:nvSpPr>
          <p:cNvPr id="6" name="Text 4"/>
          <p:cNvSpPr/>
          <p:nvPr/>
        </p:nvSpPr>
        <p:spPr>
          <a:xfrm>
            <a:off x="320040" y="1920240"/>
            <a:ext cx="8229600" cy="914400"/>
          </a:xfrm>
          <a:prstGeom prst="rect">
            <a:avLst/>
          </a:prstGeom>
          <a:noFill/>
          <a:ln/>
        </p:spPr>
        <p:txBody>
          <a:bodyPr wrap="square" lIns="0" tIns="0" rIns="0" bIns="0" rtlCol="0" anchor="ctr"/>
          <a:lstStyle/>
          <a:p>
            <a:pPr algn="l" indent="0" marL="0">
              <a:buNone/>
            </a:pPr>
            <a:r>
              <a:rPr lang="en-US" sz="6800" b="1" dirty="0">
                <a:solidFill>
                  <a:srgbClr val="FFFFFF"/>
                </a:solidFill>
                <a:latin typeface="Arial Black" pitchFamily="34" charset="0"/>
                <a:ea typeface="Arial Black" pitchFamily="34" charset="-122"/>
                <a:cs typeface="Arial Black" pitchFamily="34" charset="-120"/>
              </a:rPr>
              <a:t>SALES</a:t>
            </a:r>
            <a:endParaRPr lang="en-US" sz="6800" dirty="0"/>
          </a:p>
        </p:txBody>
      </p:sp>
      <p:sp>
        <p:nvSpPr>
          <p:cNvPr id="7" name="Shape 5"/>
          <p:cNvSpPr/>
          <p:nvPr/>
        </p:nvSpPr>
        <p:spPr>
          <a:xfrm>
            <a:off x="320040" y="3017520"/>
            <a:ext cx="2560320" cy="45720"/>
          </a:xfrm>
          <a:prstGeom prst="rect">
            <a:avLst/>
          </a:prstGeom>
          <a:solidFill>
            <a:srgbClr val="00D4E8"/>
          </a:solidFill>
          <a:ln w="12700">
            <a:solidFill>
              <a:srgbClr val="00D4E8"/>
            </a:solidFill>
            <a:prstDash val="solid"/>
          </a:ln>
        </p:spPr>
      </p:sp>
      <p:sp>
        <p:nvSpPr>
          <p:cNvPr id="8" name="Text 6"/>
          <p:cNvSpPr/>
          <p:nvPr/>
        </p:nvSpPr>
        <p:spPr>
          <a:xfrm>
            <a:off x="320040" y="3246120"/>
            <a:ext cx="4572000" cy="274320"/>
          </a:xfrm>
          <a:prstGeom prst="rect">
            <a:avLst/>
          </a:prstGeom>
          <a:noFill/>
          <a:ln/>
        </p:spPr>
        <p:txBody>
          <a:bodyPr wrap="square" lIns="0" tIns="0" rIns="0" bIns="0" rtlCol="0" anchor="ctr"/>
          <a:lstStyle/>
          <a:p>
            <a:pPr algn="l" indent="0" marL="0">
              <a:buNone/>
            </a:pPr>
            <a:r>
              <a:rPr lang="en-US" sz="1100" spc="400" kern="0" dirty="0">
                <a:solidFill>
                  <a:srgbClr val="94A3B8"/>
                </a:solidFill>
                <a:latin typeface="Calibri" pitchFamily="34" charset="0"/>
                <a:ea typeface="Calibri" pitchFamily="34" charset="-122"/>
                <a:cs typeface="Calibri" pitchFamily="34" charset="-120"/>
              </a:rPr>
              <a:t>PRESENTED BY</a:t>
            </a:r>
            <a:endParaRPr lang="en-US" sz="1100" dirty="0"/>
          </a:p>
        </p:txBody>
      </p:sp>
      <p:sp>
        <p:nvSpPr>
          <p:cNvPr id="9" name="Text 7"/>
          <p:cNvSpPr/>
          <p:nvPr/>
        </p:nvSpPr>
        <p:spPr>
          <a:xfrm>
            <a:off x="320040" y="3547872"/>
            <a:ext cx="6400800" cy="502920"/>
          </a:xfrm>
          <a:prstGeom prst="rect">
            <a:avLst/>
          </a:prstGeom>
          <a:noFill/>
          <a:ln/>
        </p:spPr>
        <p:txBody>
          <a:bodyPr wrap="square" lIns="0" tIns="0" rIns="0" bIns="0" rtlCol="0" anchor="ctr"/>
          <a:lstStyle/>
          <a:p>
            <a:pPr algn="l" indent="0" marL="0">
              <a:buNone/>
            </a:pPr>
            <a:r>
              <a:rPr lang="en-US" sz="2800" b="1" dirty="0">
                <a:solidFill>
                  <a:srgbClr val="FFFFFF"/>
                </a:solidFill>
                <a:latin typeface="Arial Black" pitchFamily="34" charset="0"/>
                <a:ea typeface="Arial Black" pitchFamily="34" charset="-122"/>
                <a:cs typeface="Arial Black" pitchFamily="34" charset="-120"/>
              </a:rPr>
              <a:t>ETHABA MHLONGO</a:t>
            </a:r>
            <a:endParaRPr lang="en-US" sz="2800" dirty="0"/>
          </a:p>
        </p:txBody>
      </p:sp>
      <p:sp>
        <p:nvSpPr>
          <p:cNvPr id="10" name="Text 8"/>
          <p:cNvSpPr/>
          <p:nvPr/>
        </p:nvSpPr>
        <p:spPr>
          <a:xfrm>
            <a:off x="320040" y="4096512"/>
            <a:ext cx="5486400" cy="320040"/>
          </a:xfrm>
          <a:prstGeom prst="rect">
            <a:avLst/>
          </a:prstGeom>
          <a:noFill/>
          <a:ln/>
        </p:spPr>
        <p:txBody>
          <a:bodyPr wrap="square" lIns="0" tIns="0" rIns="0" bIns="0" rtlCol="0" anchor="ctr"/>
          <a:lstStyle/>
          <a:p>
            <a:pPr algn="l" indent="0" marL="0">
              <a:buNone/>
            </a:pPr>
            <a:r>
              <a:rPr lang="en-US" sz="1300" dirty="0">
                <a:solidFill>
                  <a:srgbClr val="94A3B8"/>
                </a:solidFill>
                <a:latin typeface="Calibri" pitchFamily="34" charset="0"/>
                <a:ea typeface="Calibri" pitchFamily="34" charset="-122"/>
                <a:cs typeface="Calibri" pitchFamily="34" charset="-120"/>
              </a:rPr>
              <a:t>Junior Data Analyst  ·  Bright Motors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A0A0A"/>
          </a:solidFill>
          <a:ln w="12700">
            <a:solidFill>
              <a:srgbClr val="0A0A0A"/>
            </a:solidFill>
            <a:prstDash val="solid"/>
          </a:ln>
        </p:spPr>
      </p:sp>
      <p:sp>
        <p:nvSpPr>
          <p:cNvPr id="3" name="Shape 1"/>
          <p:cNvSpPr/>
          <p:nvPr/>
        </p:nvSpPr>
        <p:spPr>
          <a:xfrm>
            <a:off x="0" y="978408"/>
            <a:ext cx="9144000" cy="64008"/>
          </a:xfrm>
          <a:prstGeom prst="rect">
            <a:avLst/>
          </a:prstGeom>
          <a:solidFill>
            <a:srgbClr val="00D4E8"/>
          </a:solidFill>
          <a:ln w="12700">
            <a:solidFill>
              <a:srgbClr val="00D4E8"/>
            </a:solidFill>
            <a:prstDash val="solid"/>
          </a:ln>
        </p:spPr>
      </p:sp>
      <p:sp>
        <p:nvSpPr>
          <p:cNvPr id="4" name="Text 2"/>
          <p:cNvSpPr/>
          <p:nvPr/>
        </p:nvSpPr>
        <p:spPr>
          <a:xfrm>
            <a:off x="457200" y="164592"/>
            <a:ext cx="8229600" cy="731520"/>
          </a:xfrm>
          <a:prstGeom prst="rect">
            <a:avLst/>
          </a:prstGeom>
          <a:noFill/>
          <a:ln/>
        </p:spPr>
        <p:txBody>
          <a:bodyPr wrap="square" lIns="0" tIns="0" rIns="0" bIns="0" rtlCol="0" anchor="ctr"/>
          <a:lstStyle/>
          <a:p>
            <a:pPr algn="l" indent="0" marL="0">
              <a:buNone/>
            </a:pPr>
            <a:r>
              <a:rPr lang="en-US" sz="3800" b="1" dirty="0">
                <a:solidFill>
                  <a:srgbClr val="FFFFFF"/>
                </a:solidFill>
                <a:latin typeface="Arial Black" pitchFamily="34" charset="0"/>
                <a:ea typeface="Arial Black" pitchFamily="34" charset="-122"/>
                <a:cs typeface="Arial Black" pitchFamily="34" charset="-120"/>
              </a:rPr>
              <a:t>CONTENT</a:t>
            </a:r>
            <a:endParaRPr lang="en-US" sz="3800" dirty="0"/>
          </a:p>
        </p:txBody>
      </p:sp>
      <p:sp>
        <p:nvSpPr>
          <p:cNvPr id="5" name="Shape 3"/>
          <p:cNvSpPr/>
          <p:nvPr/>
        </p:nvSpPr>
        <p:spPr>
          <a:xfrm>
            <a:off x="320040" y="1234440"/>
            <a:ext cx="4206240" cy="1078992"/>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7000"/>
              </a:srgbClr>
            </a:outerShdw>
          </a:effectLst>
        </p:spPr>
      </p:sp>
      <p:sp>
        <p:nvSpPr>
          <p:cNvPr id="6" name="Shape 4"/>
          <p:cNvSpPr/>
          <p:nvPr/>
        </p:nvSpPr>
        <p:spPr>
          <a:xfrm>
            <a:off x="320040" y="1234440"/>
            <a:ext cx="64008" cy="1078992"/>
          </a:xfrm>
          <a:prstGeom prst="rect">
            <a:avLst/>
          </a:prstGeom>
          <a:solidFill>
            <a:srgbClr val="00D4E8"/>
          </a:solidFill>
          <a:ln w="12700">
            <a:solidFill>
              <a:srgbClr val="00D4E8"/>
            </a:solidFill>
            <a:prstDash val="solid"/>
          </a:ln>
        </p:spPr>
      </p:sp>
      <p:sp>
        <p:nvSpPr>
          <p:cNvPr id="7" name="Text 5"/>
          <p:cNvSpPr/>
          <p:nvPr/>
        </p:nvSpPr>
        <p:spPr>
          <a:xfrm>
            <a:off x="484632" y="1325880"/>
            <a:ext cx="548640" cy="384048"/>
          </a:xfrm>
          <a:prstGeom prst="rect">
            <a:avLst/>
          </a:prstGeom>
          <a:noFill/>
          <a:ln/>
        </p:spPr>
        <p:txBody>
          <a:bodyPr wrap="square" lIns="0" tIns="0" rIns="0" bIns="0" rtlCol="0" anchor="ctr"/>
          <a:lstStyle/>
          <a:p>
            <a:pPr algn="l" indent="0" marL="0">
              <a:buNone/>
            </a:pPr>
            <a:r>
              <a:rPr lang="en-US" sz="2400" b="1" dirty="0">
                <a:solidFill>
                  <a:srgbClr val="00D4E8"/>
                </a:solidFill>
                <a:latin typeface="Arial Black" pitchFamily="34" charset="0"/>
                <a:ea typeface="Arial Black" pitchFamily="34" charset="-122"/>
                <a:cs typeface="Arial Black" pitchFamily="34" charset="-120"/>
              </a:rPr>
              <a:t>01</a:t>
            </a:r>
            <a:endParaRPr lang="en-US" sz="2400" dirty="0"/>
          </a:p>
        </p:txBody>
      </p:sp>
      <p:sp>
        <p:nvSpPr>
          <p:cNvPr id="8" name="Text 6"/>
          <p:cNvSpPr/>
          <p:nvPr/>
        </p:nvSpPr>
        <p:spPr>
          <a:xfrm>
            <a:off x="1069848" y="1325880"/>
            <a:ext cx="3291840" cy="365760"/>
          </a:xfrm>
          <a:prstGeom prst="rect">
            <a:avLst/>
          </a:prstGeom>
          <a:noFill/>
          <a:ln/>
        </p:spPr>
        <p:txBody>
          <a:bodyPr wrap="square" lIns="0" tIns="0" rIns="0" bIns="0" rtlCol="0" anchor="ctr"/>
          <a:lstStyle/>
          <a:p>
            <a:pPr algn="l" indent="0" marL="0">
              <a:buNone/>
            </a:pPr>
            <a:r>
              <a:rPr lang="en-US" sz="1400" b="1" dirty="0">
                <a:solidFill>
                  <a:srgbClr val="0A0A0A"/>
                </a:solidFill>
                <a:latin typeface="Calibri" pitchFamily="34" charset="0"/>
                <a:ea typeface="Calibri" pitchFamily="34" charset="-122"/>
                <a:cs typeface="Calibri" pitchFamily="34" charset="-120"/>
              </a:rPr>
              <a:t>Introduction</a:t>
            </a:r>
            <a:endParaRPr lang="en-US" sz="1400" dirty="0"/>
          </a:p>
        </p:txBody>
      </p:sp>
      <p:sp>
        <p:nvSpPr>
          <p:cNvPr id="9" name="Text 7"/>
          <p:cNvSpPr/>
          <p:nvPr/>
        </p:nvSpPr>
        <p:spPr>
          <a:xfrm>
            <a:off x="1069848" y="1737360"/>
            <a:ext cx="3291840" cy="457200"/>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Purpose and scope of the sales analysis</a:t>
            </a:r>
            <a:endParaRPr lang="en-US" sz="1100" dirty="0"/>
          </a:p>
        </p:txBody>
      </p:sp>
      <p:sp>
        <p:nvSpPr>
          <p:cNvPr id="10" name="Shape 8"/>
          <p:cNvSpPr/>
          <p:nvPr/>
        </p:nvSpPr>
        <p:spPr>
          <a:xfrm>
            <a:off x="4800600" y="1234440"/>
            <a:ext cx="4206240" cy="1078992"/>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7000"/>
              </a:srgbClr>
            </a:outerShdw>
          </a:effectLst>
        </p:spPr>
      </p:sp>
      <p:sp>
        <p:nvSpPr>
          <p:cNvPr id="11" name="Shape 9"/>
          <p:cNvSpPr/>
          <p:nvPr/>
        </p:nvSpPr>
        <p:spPr>
          <a:xfrm>
            <a:off x="4800600" y="1234440"/>
            <a:ext cx="64008" cy="1078992"/>
          </a:xfrm>
          <a:prstGeom prst="rect">
            <a:avLst/>
          </a:prstGeom>
          <a:solidFill>
            <a:srgbClr val="00D4E8"/>
          </a:solidFill>
          <a:ln w="12700">
            <a:solidFill>
              <a:srgbClr val="00D4E8"/>
            </a:solidFill>
            <a:prstDash val="solid"/>
          </a:ln>
        </p:spPr>
      </p:sp>
      <p:sp>
        <p:nvSpPr>
          <p:cNvPr id="12" name="Text 10"/>
          <p:cNvSpPr/>
          <p:nvPr/>
        </p:nvSpPr>
        <p:spPr>
          <a:xfrm>
            <a:off x="4965192" y="1325880"/>
            <a:ext cx="548640" cy="384048"/>
          </a:xfrm>
          <a:prstGeom prst="rect">
            <a:avLst/>
          </a:prstGeom>
          <a:noFill/>
          <a:ln/>
        </p:spPr>
        <p:txBody>
          <a:bodyPr wrap="square" lIns="0" tIns="0" rIns="0" bIns="0" rtlCol="0" anchor="ctr"/>
          <a:lstStyle/>
          <a:p>
            <a:pPr algn="l" indent="0" marL="0">
              <a:buNone/>
            </a:pPr>
            <a:r>
              <a:rPr lang="en-US" sz="2400" b="1" dirty="0">
                <a:solidFill>
                  <a:srgbClr val="00D4E8"/>
                </a:solidFill>
                <a:latin typeface="Arial Black" pitchFamily="34" charset="0"/>
                <a:ea typeface="Arial Black" pitchFamily="34" charset="-122"/>
                <a:cs typeface="Arial Black" pitchFamily="34" charset="-120"/>
              </a:rPr>
              <a:t>02</a:t>
            </a:r>
            <a:endParaRPr lang="en-US" sz="2400" dirty="0"/>
          </a:p>
        </p:txBody>
      </p:sp>
      <p:sp>
        <p:nvSpPr>
          <p:cNvPr id="13" name="Text 11"/>
          <p:cNvSpPr/>
          <p:nvPr/>
        </p:nvSpPr>
        <p:spPr>
          <a:xfrm>
            <a:off x="5550408" y="1325880"/>
            <a:ext cx="3291840" cy="365760"/>
          </a:xfrm>
          <a:prstGeom prst="rect">
            <a:avLst/>
          </a:prstGeom>
          <a:noFill/>
          <a:ln/>
        </p:spPr>
        <p:txBody>
          <a:bodyPr wrap="square" lIns="0" tIns="0" rIns="0" bIns="0" rtlCol="0" anchor="ctr"/>
          <a:lstStyle/>
          <a:p>
            <a:pPr algn="l" indent="0" marL="0">
              <a:buNone/>
            </a:pPr>
            <a:r>
              <a:rPr lang="en-US" sz="1400" b="1" dirty="0">
                <a:solidFill>
                  <a:srgbClr val="0A0A0A"/>
                </a:solidFill>
                <a:latin typeface="Calibri" pitchFamily="34" charset="0"/>
                <a:ea typeface="Calibri" pitchFamily="34" charset="-122"/>
                <a:cs typeface="Calibri" pitchFamily="34" charset="-120"/>
              </a:rPr>
              <a:t>Data Systems</a:t>
            </a:r>
            <a:endParaRPr lang="en-US" sz="1400" dirty="0"/>
          </a:p>
        </p:txBody>
      </p:sp>
      <p:sp>
        <p:nvSpPr>
          <p:cNvPr id="14" name="Text 12"/>
          <p:cNvSpPr/>
          <p:nvPr/>
        </p:nvSpPr>
        <p:spPr>
          <a:xfrm>
            <a:off x="5550408" y="1737360"/>
            <a:ext cx="3291840" cy="457200"/>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Databricks · Excel · Canva methodology</a:t>
            </a:r>
            <a:endParaRPr lang="en-US" sz="1100" dirty="0"/>
          </a:p>
        </p:txBody>
      </p:sp>
      <p:sp>
        <p:nvSpPr>
          <p:cNvPr id="15" name="Shape 13"/>
          <p:cNvSpPr/>
          <p:nvPr/>
        </p:nvSpPr>
        <p:spPr>
          <a:xfrm>
            <a:off x="320040" y="2496312"/>
            <a:ext cx="4206240" cy="1078992"/>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7000"/>
              </a:srgbClr>
            </a:outerShdw>
          </a:effectLst>
        </p:spPr>
      </p:sp>
      <p:sp>
        <p:nvSpPr>
          <p:cNvPr id="16" name="Shape 14"/>
          <p:cNvSpPr/>
          <p:nvPr/>
        </p:nvSpPr>
        <p:spPr>
          <a:xfrm>
            <a:off x="320040" y="2496312"/>
            <a:ext cx="64008" cy="1078992"/>
          </a:xfrm>
          <a:prstGeom prst="rect">
            <a:avLst/>
          </a:prstGeom>
          <a:solidFill>
            <a:srgbClr val="00D4E8"/>
          </a:solidFill>
          <a:ln w="12700">
            <a:solidFill>
              <a:srgbClr val="00D4E8"/>
            </a:solidFill>
            <a:prstDash val="solid"/>
          </a:ln>
        </p:spPr>
      </p:sp>
      <p:sp>
        <p:nvSpPr>
          <p:cNvPr id="17" name="Text 15"/>
          <p:cNvSpPr/>
          <p:nvPr/>
        </p:nvSpPr>
        <p:spPr>
          <a:xfrm>
            <a:off x="484632" y="2587752"/>
            <a:ext cx="548640" cy="384048"/>
          </a:xfrm>
          <a:prstGeom prst="rect">
            <a:avLst/>
          </a:prstGeom>
          <a:noFill/>
          <a:ln/>
        </p:spPr>
        <p:txBody>
          <a:bodyPr wrap="square" lIns="0" tIns="0" rIns="0" bIns="0" rtlCol="0" anchor="ctr"/>
          <a:lstStyle/>
          <a:p>
            <a:pPr algn="l" indent="0" marL="0">
              <a:buNone/>
            </a:pPr>
            <a:r>
              <a:rPr lang="en-US" sz="2400" b="1" dirty="0">
                <a:solidFill>
                  <a:srgbClr val="00D4E8"/>
                </a:solidFill>
                <a:latin typeface="Arial Black" pitchFamily="34" charset="0"/>
                <a:ea typeface="Arial Black" pitchFamily="34" charset="-122"/>
                <a:cs typeface="Arial Black" pitchFamily="34" charset="-120"/>
              </a:rPr>
              <a:t>03</a:t>
            </a:r>
            <a:endParaRPr lang="en-US" sz="2400" dirty="0"/>
          </a:p>
        </p:txBody>
      </p:sp>
      <p:sp>
        <p:nvSpPr>
          <p:cNvPr id="18" name="Text 16"/>
          <p:cNvSpPr/>
          <p:nvPr/>
        </p:nvSpPr>
        <p:spPr>
          <a:xfrm>
            <a:off x="1069848" y="2587752"/>
            <a:ext cx="3291840" cy="365760"/>
          </a:xfrm>
          <a:prstGeom prst="rect">
            <a:avLst/>
          </a:prstGeom>
          <a:noFill/>
          <a:ln/>
        </p:spPr>
        <p:txBody>
          <a:bodyPr wrap="square" lIns="0" tIns="0" rIns="0" bIns="0" rtlCol="0" anchor="ctr"/>
          <a:lstStyle/>
          <a:p>
            <a:pPr algn="l" indent="0" marL="0">
              <a:buNone/>
            </a:pPr>
            <a:r>
              <a:rPr lang="en-US" sz="1400" b="1" dirty="0">
                <a:solidFill>
                  <a:srgbClr val="0A0A0A"/>
                </a:solidFill>
                <a:latin typeface="Calibri" pitchFamily="34" charset="0"/>
                <a:ea typeface="Calibri" pitchFamily="34" charset="-122"/>
                <a:cs typeface="Calibri" pitchFamily="34" charset="-120"/>
              </a:rPr>
              <a:t>Analysis</a:t>
            </a:r>
            <a:endParaRPr lang="en-US" sz="1400" dirty="0"/>
          </a:p>
        </p:txBody>
      </p:sp>
      <p:sp>
        <p:nvSpPr>
          <p:cNvPr id="19" name="Text 17"/>
          <p:cNvSpPr/>
          <p:nvPr/>
        </p:nvSpPr>
        <p:spPr>
          <a:xfrm>
            <a:off x="1069848" y="2999232"/>
            <a:ext cx="3291840" cy="457200"/>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Revenue, regional, mileage &amp; transmission insights</a:t>
            </a:r>
            <a:endParaRPr lang="en-US" sz="1100" dirty="0"/>
          </a:p>
        </p:txBody>
      </p:sp>
      <p:sp>
        <p:nvSpPr>
          <p:cNvPr id="20" name="Shape 18"/>
          <p:cNvSpPr/>
          <p:nvPr/>
        </p:nvSpPr>
        <p:spPr>
          <a:xfrm>
            <a:off x="4800600" y="2496312"/>
            <a:ext cx="4206240" cy="1078992"/>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7000"/>
              </a:srgbClr>
            </a:outerShdw>
          </a:effectLst>
        </p:spPr>
      </p:sp>
      <p:sp>
        <p:nvSpPr>
          <p:cNvPr id="21" name="Shape 19"/>
          <p:cNvSpPr/>
          <p:nvPr/>
        </p:nvSpPr>
        <p:spPr>
          <a:xfrm>
            <a:off x="4800600" y="2496312"/>
            <a:ext cx="64008" cy="1078992"/>
          </a:xfrm>
          <a:prstGeom prst="rect">
            <a:avLst/>
          </a:prstGeom>
          <a:solidFill>
            <a:srgbClr val="00D4E8"/>
          </a:solidFill>
          <a:ln w="12700">
            <a:solidFill>
              <a:srgbClr val="00D4E8"/>
            </a:solidFill>
            <a:prstDash val="solid"/>
          </a:ln>
        </p:spPr>
      </p:sp>
      <p:sp>
        <p:nvSpPr>
          <p:cNvPr id="22" name="Text 20"/>
          <p:cNvSpPr/>
          <p:nvPr/>
        </p:nvSpPr>
        <p:spPr>
          <a:xfrm>
            <a:off x="4965192" y="2587752"/>
            <a:ext cx="548640" cy="384048"/>
          </a:xfrm>
          <a:prstGeom prst="rect">
            <a:avLst/>
          </a:prstGeom>
          <a:noFill/>
          <a:ln/>
        </p:spPr>
        <p:txBody>
          <a:bodyPr wrap="square" lIns="0" tIns="0" rIns="0" bIns="0" rtlCol="0" anchor="ctr"/>
          <a:lstStyle/>
          <a:p>
            <a:pPr algn="l" indent="0" marL="0">
              <a:buNone/>
            </a:pPr>
            <a:r>
              <a:rPr lang="en-US" sz="2400" b="1" dirty="0">
                <a:solidFill>
                  <a:srgbClr val="00D4E8"/>
                </a:solidFill>
                <a:latin typeface="Arial Black" pitchFamily="34" charset="0"/>
                <a:ea typeface="Arial Black" pitchFamily="34" charset="-122"/>
                <a:cs typeface="Arial Black" pitchFamily="34" charset="-120"/>
              </a:rPr>
              <a:t>04</a:t>
            </a:r>
            <a:endParaRPr lang="en-US" sz="2400" dirty="0"/>
          </a:p>
        </p:txBody>
      </p:sp>
      <p:sp>
        <p:nvSpPr>
          <p:cNvPr id="23" name="Text 21"/>
          <p:cNvSpPr/>
          <p:nvPr/>
        </p:nvSpPr>
        <p:spPr>
          <a:xfrm>
            <a:off x="5550408" y="2587752"/>
            <a:ext cx="3291840" cy="365760"/>
          </a:xfrm>
          <a:prstGeom prst="rect">
            <a:avLst/>
          </a:prstGeom>
          <a:noFill/>
          <a:ln/>
        </p:spPr>
        <p:txBody>
          <a:bodyPr wrap="square" lIns="0" tIns="0" rIns="0" bIns="0" rtlCol="0" anchor="ctr"/>
          <a:lstStyle/>
          <a:p>
            <a:pPr algn="l" indent="0" marL="0">
              <a:buNone/>
            </a:pPr>
            <a:r>
              <a:rPr lang="en-US" sz="1400" b="1" dirty="0">
                <a:solidFill>
                  <a:srgbClr val="0A0A0A"/>
                </a:solidFill>
                <a:latin typeface="Calibri" pitchFamily="34" charset="0"/>
                <a:ea typeface="Calibri" pitchFamily="34" charset="-122"/>
                <a:cs typeface="Calibri" pitchFamily="34" charset="-120"/>
              </a:rPr>
              <a:t>Recommendations</a:t>
            </a:r>
            <a:endParaRPr lang="en-US" sz="1400" dirty="0"/>
          </a:p>
        </p:txBody>
      </p:sp>
      <p:sp>
        <p:nvSpPr>
          <p:cNvPr id="24" name="Text 22"/>
          <p:cNvSpPr/>
          <p:nvPr/>
        </p:nvSpPr>
        <p:spPr>
          <a:xfrm>
            <a:off x="5550408" y="2999232"/>
            <a:ext cx="3291840" cy="457200"/>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Five strategic actions to grow profitability</a:t>
            </a:r>
            <a:endParaRPr lang="en-US" sz="1100" dirty="0"/>
          </a:p>
        </p:txBody>
      </p:sp>
      <p:sp>
        <p:nvSpPr>
          <p:cNvPr id="25" name="Shape 23"/>
          <p:cNvSpPr/>
          <p:nvPr/>
        </p:nvSpPr>
        <p:spPr>
          <a:xfrm>
            <a:off x="320040" y="3758184"/>
            <a:ext cx="8503920" cy="1078992"/>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7000"/>
              </a:srgbClr>
            </a:outerShdw>
          </a:effectLst>
        </p:spPr>
      </p:sp>
      <p:sp>
        <p:nvSpPr>
          <p:cNvPr id="26" name="Shape 24"/>
          <p:cNvSpPr/>
          <p:nvPr/>
        </p:nvSpPr>
        <p:spPr>
          <a:xfrm>
            <a:off x="320040" y="3758184"/>
            <a:ext cx="64008" cy="1078992"/>
          </a:xfrm>
          <a:prstGeom prst="rect">
            <a:avLst/>
          </a:prstGeom>
          <a:solidFill>
            <a:srgbClr val="00D4E8"/>
          </a:solidFill>
          <a:ln w="12700">
            <a:solidFill>
              <a:srgbClr val="00D4E8"/>
            </a:solidFill>
            <a:prstDash val="solid"/>
          </a:ln>
        </p:spPr>
      </p:sp>
      <p:sp>
        <p:nvSpPr>
          <p:cNvPr id="27" name="Text 25"/>
          <p:cNvSpPr/>
          <p:nvPr/>
        </p:nvSpPr>
        <p:spPr>
          <a:xfrm>
            <a:off x="484632" y="3849624"/>
            <a:ext cx="548640" cy="384048"/>
          </a:xfrm>
          <a:prstGeom prst="rect">
            <a:avLst/>
          </a:prstGeom>
          <a:noFill/>
          <a:ln/>
        </p:spPr>
        <p:txBody>
          <a:bodyPr wrap="square" lIns="0" tIns="0" rIns="0" bIns="0" rtlCol="0" anchor="ctr"/>
          <a:lstStyle/>
          <a:p>
            <a:pPr algn="l" indent="0" marL="0">
              <a:buNone/>
            </a:pPr>
            <a:r>
              <a:rPr lang="en-US" sz="2400" b="1" dirty="0">
                <a:solidFill>
                  <a:srgbClr val="00D4E8"/>
                </a:solidFill>
                <a:latin typeface="Arial Black" pitchFamily="34" charset="0"/>
                <a:ea typeface="Arial Black" pitchFamily="34" charset="-122"/>
                <a:cs typeface="Arial Black" pitchFamily="34" charset="-120"/>
              </a:rPr>
              <a:t>05</a:t>
            </a:r>
            <a:endParaRPr lang="en-US" sz="2400" dirty="0"/>
          </a:p>
        </p:txBody>
      </p:sp>
      <p:sp>
        <p:nvSpPr>
          <p:cNvPr id="28" name="Text 26"/>
          <p:cNvSpPr/>
          <p:nvPr/>
        </p:nvSpPr>
        <p:spPr>
          <a:xfrm>
            <a:off x="1069848" y="3849624"/>
            <a:ext cx="7589520" cy="365760"/>
          </a:xfrm>
          <a:prstGeom prst="rect">
            <a:avLst/>
          </a:prstGeom>
          <a:noFill/>
          <a:ln/>
        </p:spPr>
        <p:txBody>
          <a:bodyPr wrap="square" lIns="0" tIns="0" rIns="0" bIns="0" rtlCol="0" anchor="ctr"/>
          <a:lstStyle/>
          <a:p>
            <a:pPr algn="l" indent="0" marL="0">
              <a:buNone/>
            </a:pPr>
            <a:r>
              <a:rPr lang="en-US" sz="1400" b="1" dirty="0">
                <a:solidFill>
                  <a:srgbClr val="0A0A0A"/>
                </a:solidFill>
                <a:latin typeface="Calibri" pitchFamily="34" charset="0"/>
                <a:ea typeface="Calibri" pitchFamily="34" charset="-122"/>
                <a:cs typeface="Calibri" pitchFamily="34" charset="-120"/>
              </a:rPr>
              <a:t>Implementation</a:t>
            </a:r>
            <a:endParaRPr lang="en-US" sz="1400" dirty="0"/>
          </a:p>
        </p:txBody>
      </p:sp>
      <p:sp>
        <p:nvSpPr>
          <p:cNvPr id="29" name="Text 27"/>
          <p:cNvSpPr/>
          <p:nvPr/>
        </p:nvSpPr>
        <p:spPr>
          <a:xfrm>
            <a:off x="1069848" y="4261104"/>
            <a:ext cx="7589520" cy="457200"/>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90-day roadmap &amp; action plan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D4E8"/>
          </a:solidFill>
          <a:ln w="12700">
            <a:solidFill>
              <a:srgbClr val="00D4E8"/>
            </a:solidFill>
            <a:prstDash val="solid"/>
          </a:ln>
        </p:spPr>
      </p:sp>
      <p:sp>
        <p:nvSpPr>
          <p:cNvPr id="3" name="Text 1"/>
          <p:cNvSpPr/>
          <p:nvPr/>
        </p:nvSpPr>
        <p:spPr>
          <a:xfrm>
            <a:off x="457200" y="228600"/>
            <a:ext cx="8229600" cy="658368"/>
          </a:xfrm>
          <a:prstGeom prst="rect">
            <a:avLst/>
          </a:prstGeom>
          <a:noFill/>
          <a:ln/>
        </p:spPr>
        <p:txBody>
          <a:bodyPr wrap="square" lIns="0" tIns="0" rIns="0" bIns="0" rtlCol="0" anchor="ctr"/>
          <a:lstStyle/>
          <a:p>
            <a:pPr algn="l" indent="0" marL="0">
              <a:buNone/>
            </a:pPr>
            <a:r>
              <a:rPr lang="en-US" sz="3800" b="1" dirty="0">
                <a:solidFill>
                  <a:srgbClr val="00D4E8"/>
                </a:solidFill>
                <a:latin typeface="Arial Black" pitchFamily="34" charset="0"/>
                <a:ea typeface="Arial Black" pitchFamily="34" charset="-122"/>
                <a:cs typeface="Arial Black" pitchFamily="34" charset="-120"/>
              </a:rPr>
              <a:t>INTRODUCTION</a:t>
            </a:r>
            <a:endParaRPr lang="en-US" sz="3800" dirty="0"/>
          </a:p>
        </p:txBody>
      </p:sp>
      <p:sp>
        <p:nvSpPr>
          <p:cNvPr id="4" name="Text 2"/>
          <p:cNvSpPr/>
          <p:nvPr/>
        </p:nvSpPr>
        <p:spPr>
          <a:xfrm>
            <a:off x="457200" y="1051560"/>
            <a:ext cx="8229600" cy="914400"/>
          </a:xfrm>
          <a:prstGeom prst="rect">
            <a:avLst/>
          </a:prstGeom>
          <a:noFill/>
          <a:ln/>
        </p:spPr>
        <p:txBody>
          <a:bodyPr wrap="square" lIns="0" tIns="0" rIns="0" bIns="0" rtlCol="0" anchor="ctr"/>
          <a:lstStyle/>
          <a:p>
            <a:pPr algn="l" indent="0" marL="0">
              <a:buNone/>
            </a:pPr>
            <a:r>
              <a:rPr lang="en-US" sz="1400" dirty="0">
                <a:solidFill>
                  <a:srgbClr val="94A3B8"/>
                </a:solidFill>
                <a:latin typeface="Calibri" pitchFamily="34" charset="0"/>
                <a:ea typeface="Calibri" pitchFamily="34" charset="-122"/>
                <a:cs typeface="Calibri" pitchFamily="34" charset="-120"/>
              </a:rPr>
              <a:t>The purpose of this analysis is to identify the makes and models generating the highest revenue, examine how price is influenced by factors such as mileage and year of manufacture, determine which regions have the strongest sales volumes, and uncover customer purchasing trends.</a:t>
            </a:r>
            <a:endParaRPr lang="en-US" sz="1400" dirty="0"/>
          </a:p>
        </p:txBody>
      </p:sp>
      <p:sp>
        <p:nvSpPr>
          <p:cNvPr id="5" name="Shape 3"/>
          <p:cNvSpPr/>
          <p:nvPr/>
        </p:nvSpPr>
        <p:spPr>
          <a:xfrm>
            <a:off x="320040" y="2240280"/>
            <a:ext cx="4160520" cy="1097280"/>
          </a:xfrm>
          <a:prstGeom prst="rect">
            <a:avLst/>
          </a:prstGeom>
          <a:solidFill>
            <a:srgbClr val="1E1E1E"/>
          </a:solidFill>
          <a:ln w="12700">
            <a:solidFill>
              <a:srgbClr val="2D3D4D"/>
            </a:solidFill>
            <a:prstDash val="solid"/>
          </a:ln>
        </p:spPr>
      </p:sp>
      <p:sp>
        <p:nvSpPr>
          <p:cNvPr id="6" name="Shape 4"/>
          <p:cNvSpPr/>
          <p:nvPr/>
        </p:nvSpPr>
        <p:spPr>
          <a:xfrm>
            <a:off x="320040" y="2240280"/>
            <a:ext cx="64008" cy="1097280"/>
          </a:xfrm>
          <a:prstGeom prst="rect">
            <a:avLst/>
          </a:prstGeom>
          <a:solidFill>
            <a:srgbClr val="00D4E8"/>
          </a:solidFill>
          <a:ln w="12700">
            <a:solidFill>
              <a:srgbClr val="00D4E8"/>
            </a:solidFill>
            <a:prstDash val="solid"/>
          </a:ln>
        </p:spPr>
      </p:sp>
      <p:sp>
        <p:nvSpPr>
          <p:cNvPr id="7" name="Text 5"/>
          <p:cNvSpPr/>
          <p:nvPr/>
        </p:nvSpPr>
        <p:spPr>
          <a:xfrm>
            <a:off x="502920" y="2331720"/>
            <a:ext cx="3840480" cy="36576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  Revenue Analysis</a:t>
            </a:r>
            <a:endParaRPr lang="en-US" sz="1400" dirty="0"/>
          </a:p>
        </p:txBody>
      </p:sp>
      <p:sp>
        <p:nvSpPr>
          <p:cNvPr id="8" name="Text 6"/>
          <p:cNvSpPr/>
          <p:nvPr/>
        </p:nvSpPr>
        <p:spPr>
          <a:xfrm>
            <a:off x="502920" y="2752344"/>
            <a:ext cx="3840480" cy="475488"/>
          </a:xfrm>
          <a:prstGeom prst="rect">
            <a:avLst/>
          </a:prstGeom>
          <a:noFill/>
          <a:ln/>
        </p:spPr>
        <p:txBody>
          <a:bodyPr wrap="square" lIns="0" tIns="0" rIns="0" bIns="0" rtlCol="0" anchor="ctr"/>
          <a:lstStyle/>
          <a:p>
            <a:pPr algn="l" indent="0" marL="0">
              <a:buNone/>
            </a:pPr>
            <a:r>
              <a:rPr lang="en-US" sz="1100" dirty="0">
                <a:solidFill>
                  <a:srgbClr val="94A3B8"/>
                </a:solidFill>
                <a:latin typeface="Calibri" pitchFamily="34" charset="0"/>
                <a:ea typeface="Calibri" pitchFamily="34" charset="-122"/>
                <a:cs typeface="Calibri" pitchFamily="34" charset="-120"/>
              </a:rPr>
              <a:t>Identify top makes &amp; models by total revenue generated</a:t>
            </a:r>
            <a:endParaRPr lang="en-US" sz="1100" dirty="0"/>
          </a:p>
        </p:txBody>
      </p:sp>
      <p:sp>
        <p:nvSpPr>
          <p:cNvPr id="9" name="Shape 7"/>
          <p:cNvSpPr/>
          <p:nvPr/>
        </p:nvSpPr>
        <p:spPr>
          <a:xfrm>
            <a:off x="4754880" y="2240280"/>
            <a:ext cx="4160520" cy="1097280"/>
          </a:xfrm>
          <a:prstGeom prst="rect">
            <a:avLst/>
          </a:prstGeom>
          <a:solidFill>
            <a:srgbClr val="1E1E1E"/>
          </a:solidFill>
          <a:ln w="12700">
            <a:solidFill>
              <a:srgbClr val="2D3D4D"/>
            </a:solidFill>
            <a:prstDash val="solid"/>
          </a:ln>
        </p:spPr>
      </p:sp>
      <p:sp>
        <p:nvSpPr>
          <p:cNvPr id="10" name="Shape 8"/>
          <p:cNvSpPr/>
          <p:nvPr/>
        </p:nvSpPr>
        <p:spPr>
          <a:xfrm>
            <a:off x="4754880" y="2240280"/>
            <a:ext cx="64008" cy="1097280"/>
          </a:xfrm>
          <a:prstGeom prst="rect">
            <a:avLst/>
          </a:prstGeom>
          <a:solidFill>
            <a:srgbClr val="00D4E8"/>
          </a:solidFill>
          <a:ln w="12700">
            <a:solidFill>
              <a:srgbClr val="00D4E8"/>
            </a:solidFill>
            <a:prstDash val="solid"/>
          </a:ln>
        </p:spPr>
      </p:sp>
      <p:sp>
        <p:nvSpPr>
          <p:cNvPr id="11" name="Text 9"/>
          <p:cNvSpPr/>
          <p:nvPr/>
        </p:nvSpPr>
        <p:spPr>
          <a:xfrm>
            <a:off x="4937760" y="2331720"/>
            <a:ext cx="3840480" cy="36576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  Regional Performance</a:t>
            </a:r>
            <a:endParaRPr lang="en-US" sz="1400" dirty="0"/>
          </a:p>
        </p:txBody>
      </p:sp>
      <p:sp>
        <p:nvSpPr>
          <p:cNvPr id="12" name="Text 10"/>
          <p:cNvSpPr/>
          <p:nvPr/>
        </p:nvSpPr>
        <p:spPr>
          <a:xfrm>
            <a:off x="4937760" y="2752344"/>
            <a:ext cx="3840480" cy="475488"/>
          </a:xfrm>
          <a:prstGeom prst="rect">
            <a:avLst/>
          </a:prstGeom>
          <a:noFill/>
          <a:ln/>
        </p:spPr>
        <p:txBody>
          <a:bodyPr wrap="square" lIns="0" tIns="0" rIns="0" bIns="0" rtlCol="0" anchor="ctr"/>
          <a:lstStyle/>
          <a:p>
            <a:pPr algn="l" indent="0" marL="0">
              <a:buNone/>
            </a:pPr>
            <a:r>
              <a:rPr lang="en-US" sz="1100" dirty="0">
                <a:solidFill>
                  <a:srgbClr val="94A3B8"/>
                </a:solidFill>
                <a:latin typeface="Calibri" pitchFamily="34" charset="0"/>
                <a:ea typeface="Calibri" pitchFamily="34" charset="-122"/>
                <a:cs typeface="Calibri" pitchFamily="34" charset="-120"/>
              </a:rPr>
              <a:t>Determine which states drive the strongest sales volumes</a:t>
            </a:r>
            <a:endParaRPr lang="en-US" sz="1100" dirty="0"/>
          </a:p>
        </p:txBody>
      </p:sp>
      <p:sp>
        <p:nvSpPr>
          <p:cNvPr id="13" name="Shape 11"/>
          <p:cNvSpPr/>
          <p:nvPr/>
        </p:nvSpPr>
        <p:spPr>
          <a:xfrm>
            <a:off x="320040" y="3566160"/>
            <a:ext cx="4160520" cy="1097280"/>
          </a:xfrm>
          <a:prstGeom prst="rect">
            <a:avLst/>
          </a:prstGeom>
          <a:solidFill>
            <a:srgbClr val="1E1E1E"/>
          </a:solidFill>
          <a:ln w="12700">
            <a:solidFill>
              <a:srgbClr val="2D3D4D"/>
            </a:solidFill>
            <a:prstDash val="solid"/>
          </a:ln>
        </p:spPr>
      </p:sp>
      <p:sp>
        <p:nvSpPr>
          <p:cNvPr id="14" name="Shape 12"/>
          <p:cNvSpPr/>
          <p:nvPr/>
        </p:nvSpPr>
        <p:spPr>
          <a:xfrm>
            <a:off x="320040" y="3566160"/>
            <a:ext cx="64008" cy="1097280"/>
          </a:xfrm>
          <a:prstGeom prst="rect">
            <a:avLst/>
          </a:prstGeom>
          <a:solidFill>
            <a:srgbClr val="00D4E8"/>
          </a:solidFill>
          <a:ln w="12700">
            <a:solidFill>
              <a:srgbClr val="00D4E8"/>
            </a:solidFill>
            <a:prstDash val="solid"/>
          </a:ln>
        </p:spPr>
      </p:sp>
      <p:sp>
        <p:nvSpPr>
          <p:cNvPr id="15" name="Text 13"/>
          <p:cNvSpPr/>
          <p:nvPr/>
        </p:nvSpPr>
        <p:spPr>
          <a:xfrm>
            <a:off x="502920" y="3657600"/>
            <a:ext cx="3840480" cy="36576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  Price Drivers</a:t>
            </a:r>
            <a:endParaRPr lang="en-US" sz="1400" dirty="0"/>
          </a:p>
        </p:txBody>
      </p:sp>
      <p:sp>
        <p:nvSpPr>
          <p:cNvPr id="16" name="Text 14"/>
          <p:cNvSpPr/>
          <p:nvPr/>
        </p:nvSpPr>
        <p:spPr>
          <a:xfrm>
            <a:off x="502920" y="4078224"/>
            <a:ext cx="3840480" cy="475488"/>
          </a:xfrm>
          <a:prstGeom prst="rect">
            <a:avLst/>
          </a:prstGeom>
          <a:noFill/>
          <a:ln/>
        </p:spPr>
        <p:txBody>
          <a:bodyPr wrap="square" lIns="0" tIns="0" rIns="0" bIns="0" rtlCol="0" anchor="ctr"/>
          <a:lstStyle/>
          <a:p>
            <a:pPr algn="l" indent="0" marL="0">
              <a:buNone/>
            </a:pPr>
            <a:r>
              <a:rPr lang="en-US" sz="1100" dirty="0">
                <a:solidFill>
                  <a:srgbClr val="94A3B8"/>
                </a:solidFill>
                <a:latin typeface="Calibri" pitchFamily="34" charset="0"/>
                <a:ea typeface="Calibri" pitchFamily="34" charset="-122"/>
                <a:cs typeface="Calibri" pitchFamily="34" charset="-120"/>
              </a:rPr>
              <a:t>Examine how mileage and year of manufacture affect price</a:t>
            </a:r>
            <a:endParaRPr lang="en-US" sz="1100" dirty="0"/>
          </a:p>
        </p:txBody>
      </p:sp>
      <p:sp>
        <p:nvSpPr>
          <p:cNvPr id="17" name="Shape 15"/>
          <p:cNvSpPr/>
          <p:nvPr/>
        </p:nvSpPr>
        <p:spPr>
          <a:xfrm>
            <a:off x="4754880" y="3566160"/>
            <a:ext cx="4160520" cy="1097280"/>
          </a:xfrm>
          <a:prstGeom prst="rect">
            <a:avLst/>
          </a:prstGeom>
          <a:solidFill>
            <a:srgbClr val="1E1E1E"/>
          </a:solidFill>
          <a:ln w="12700">
            <a:solidFill>
              <a:srgbClr val="2D3D4D"/>
            </a:solidFill>
            <a:prstDash val="solid"/>
          </a:ln>
        </p:spPr>
      </p:sp>
      <p:sp>
        <p:nvSpPr>
          <p:cNvPr id="18" name="Shape 16"/>
          <p:cNvSpPr/>
          <p:nvPr/>
        </p:nvSpPr>
        <p:spPr>
          <a:xfrm>
            <a:off x="4754880" y="3566160"/>
            <a:ext cx="64008" cy="1097280"/>
          </a:xfrm>
          <a:prstGeom prst="rect">
            <a:avLst/>
          </a:prstGeom>
          <a:solidFill>
            <a:srgbClr val="00D4E8"/>
          </a:solidFill>
          <a:ln w="12700">
            <a:solidFill>
              <a:srgbClr val="00D4E8"/>
            </a:solidFill>
            <a:prstDash val="solid"/>
          </a:ln>
        </p:spPr>
      </p:sp>
      <p:sp>
        <p:nvSpPr>
          <p:cNvPr id="19" name="Text 17"/>
          <p:cNvSpPr/>
          <p:nvPr/>
        </p:nvSpPr>
        <p:spPr>
          <a:xfrm>
            <a:off x="4937760" y="3657600"/>
            <a:ext cx="3840480" cy="36576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  Customer Trends</a:t>
            </a:r>
            <a:endParaRPr lang="en-US" sz="1400" dirty="0"/>
          </a:p>
        </p:txBody>
      </p:sp>
      <p:sp>
        <p:nvSpPr>
          <p:cNvPr id="20" name="Text 18"/>
          <p:cNvSpPr/>
          <p:nvPr/>
        </p:nvSpPr>
        <p:spPr>
          <a:xfrm>
            <a:off x="4937760" y="4078224"/>
            <a:ext cx="3840480" cy="475488"/>
          </a:xfrm>
          <a:prstGeom prst="rect">
            <a:avLst/>
          </a:prstGeom>
          <a:noFill/>
          <a:ln/>
        </p:spPr>
        <p:txBody>
          <a:bodyPr wrap="square" lIns="0" tIns="0" rIns="0" bIns="0" rtlCol="0" anchor="ctr"/>
          <a:lstStyle/>
          <a:p>
            <a:pPr algn="l" indent="0" marL="0">
              <a:buNone/>
            </a:pPr>
            <a:r>
              <a:rPr lang="en-US" sz="1100" dirty="0">
                <a:solidFill>
                  <a:srgbClr val="94A3B8"/>
                </a:solidFill>
                <a:latin typeface="Calibri" pitchFamily="34" charset="0"/>
                <a:ea typeface="Calibri" pitchFamily="34" charset="-122"/>
                <a:cs typeface="Calibri" pitchFamily="34" charset="-120"/>
              </a:rPr>
              <a:t>Uncover emerging vehicle preferences across transmission &amp; mileage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A0A0A"/>
          </a:solidFill>
          <a:ln w="12700">
            <a:solidFill>
              <a:srgbClr val="0A0A0A"/>
            </a:solidFill>
            <a:prstDash val="solid"/>
          </a:ln>
        </p:spPr>
      </p:sp>
      <p:sp>
        <p:nvSpPr>
          <p:cNvPr id="3" name="Shape 1"/>
          <p:cNvSpPr/>
          <p:nvPr/>
        </p:nvSpPr>
        <p:spPr>
          <a:xfrm>
            <a:off x="0" y="978408"/>
            <a:ext cx="9144000" cy="64008"/>
          </a:xfrm>
          <a:prstGeom prst="rect">
            <a:avLst/>
          </a:prstGeom>
          <a:solidFill>
            <a:srgbClr val="00D4E8"/>
          </a:solidFill>
          <a:ln w="12700">
            <a:solidFill>
              <a:srgbClr val="00D4E8"/>
            </a:solidFill>
            <a:prstDash val="solid"/>
          </a:ln>
        </p:spPr>
      </p:sp>
      <p:sp>
        <p:nvSpPr>
          <p:cNvPr id="4" name="Text 2"/>
          <p:cNvSpPr/>
          <p:nvPr/>
        </p:nvSpPr>
        <p:spPr>
          <a:xfrm>
            <a:off x="457200" y="164592"/>
            <a:ext cx="8229600" cy="731520"/>
          </a:xfrm>
          <a:prstGeom prst="rect">
            <a:avLst/>
          </a:prstGeom>
          <a:noFill/>
          <a:ln/>
        </p:spPr>
        <p:txBody>
          <a:bodyPr wrap="square" lIns="0" tIns="0" rIns="0" bIns="0" rtlCol="0" anchor="ctr"/>
          <a:lstStyle/>
          <a:p>
            <a:pPr algn="l" indent="0" marL="0">
              <a:buNone/>
            </a:pPr>
            <a:r>
              <a:rPr lang="en-US" sz="3800" b="1" dirty="0">
                <a:solidFill>
                  <a:srgbClr val="FFFFFF"/>
                </a:solidFill>
                <a:latin typeface="Arial Black" pitchFamily="34" charset="0"/>
                <a:ea typeface="Arial Black" pitchFamily="34" charset="-122"/>
                <a:cs typeface="Arial Black" pitchFamily="34" charset="-120"/>
              </a:rPr>
              <a:t>DATA SYSTEMS</a:t>
            </a:r>
            <a:endParaRPr lang="en-US" sz="3800" dirty="0"/>
          </a:p>
        </p:txBody>
      </p:sp>
      <p:sp>
        <p:nvSpPr>
          <p:cNvPr id="5" name="Text 3"/>
          <p:cNvSpPr/>
          <p:nvPr/>
        </p:nvSpPr>
        <p:spPr>
          <a:xfrm>
            <a:off x="457200" y="1234440"/>
            <a:ext cx="8229600" cy="640080"/>
          </a:xfrm>
          <a:prstGeom prst="rect">
            <a:avLst/>
          </a:prstGeom>
          <a:noFill/>
          <a:ln/>
        </p:spPr>
        <p:txBody>
          <a:bodyPr wrap="square" lIns="0" tIns="0" rIns="0" bIns="0" rtlCol="0" anchor="ctr"/>
          <a:lstStyle/>
          <a:p>
            <a:pPr algn="l" indent="0" marL="0">
              <a:buNone/>
            </a:pPr>
            <a:r>
              <a:rPr lang="en-US" sz="1400" dirty="0">
                <a:solidFill>
                  <a:srgbClr val="334155"/>
                </a:solidFill>
                <a:latin typeface="Calibri" pitchFamily="34" charset="0"/>
                <a:ea typeface="Calibri" pitchFamily="34" charset="-122"/>
                <a:cs typeface="Calibri" pitchFamily="34" charset="-120"/>
              </a:rPr>
              <a:t>The data systems used in this Car Sales Case Study are designed to collect, store, process and visualise raw data to generate meaningful insights.</a:t>
            </a:r>
            <a:endParaRPr lang="en-US" sz="1400" dirty="0"/>
          </a:p>
        </p:txBody>
      </p:sp>
      <p:sp>
        <p:nvSpPr>
          <p:cNvPr id="6" name="Shape 4"/>
          <p:cNvSpPr/>
          <p:nvPr/>
        </p:nvSpPr>
        <p:spPr>
          <a:xfrm>
            <a:off x="320040" y="2057400"/>
            <a:ext cx="2743200" cy="2743200"/>
          </a:xfrm>
          <a:prstGeom prst="rect">
            <a:avLst/>
          </a:prstGeom>
          <a:solidFill>
            <a:srgbClr val="FFFFFF"/>
          </a:solidFill>
          <a:ln w="12700">
            <a:solidFill>
              <a:srgbClr val="E2E8F0"/>
            </a:solidFill>
            <a:prstDash val="solid"/>
          </a:ln>
          <a:effectLst>
            <a:outerShdw sx="100000" sy="100000" kx="0" ky="0" algn="bl" rotWithShape="0" blurRad="127000" dist="25400" dir="8100000">
              <a:srgbClr val="000000">
                <a:alpha val="8000"/>
              </a:srgbClr>
            </a:outerShdw>
          </a:effectLst>
        </p:spPr>
      </p:sp>
      <p:sp>
        <p:nvSpPr>
          <p:cNvPr id="7" name="Shape 5"/>
          <p:cNvSpPr/>
          <p:nvPr/>
        </p:nvSpPr>
        <p:spPr>
          <a:xfrm>
            <a:off x="320040" y="2057400"/>
            <a:ext cx="2743200" cy="64008"/>
          </a:xfrm>
          <a:prstGeom prst="rect">
            <a:avLst/>
          </a:prstGeom>
          <a:solidFill>
            <a:srgbClr val="00D4E8"/>
          </a:solidFill>
          <a:ln w="12700">
            <a:solidFill>
              <a:srgbClr val="00D4E8"/>
            </a:solidFill>
            <a:prstDash val="solid"/>
          </a:ln>
        </p:spPr>
      </p:sp>
      <p:sp>
        <p:nvSpPr>
          <p:cNvPr id="8" name="Text 6"/>
          <p:cNvSpPr/>
          <p:nvPr/>
        </p:nvSpPr>
        <p:spPr>
          <a:xfrm>
            <a:off x="320040" y="2240280"/>
            <a:ext cx="2743200" cy="59436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9" name="Text 7"/>
          <p:cNvSpPr/>
          <p:nvPr/>
        </p:nvSpPr>
        <p:spPr>
          <a:xfrm>
            <a:off x="411480" y="2926080"/>
            <a:ext cx="2560320" cy="411480"/>
          </a:xfrm>
          <a:prstGeom prst="rect">
            <a:avLst/>
          </a:prstGeom>
          <a:noFill/>
          <a:ln/>
        </p:spPr>
        <p:txBody>
          <a:bodyPr wrap="square" lIns="0" tIns="0" rIns="0" bIns="0" rtlCol="0" anchor="ctr"/>
          <a:lstStyle/>
          <a:p>
            <a:pPr algn="ctr" indent="0" marL="0">
              <a:buNone/>
            </a:pPr>
            <a:r>
              <a:rPr lang="en-US" sz="1800" b="1" dirty="0">
                <a:solidFill>
                  <a:srgbClr val="0A0A0A"/>
                </a:solidFill>
                <a:latin typeface="Arial Black" pitchFamily="34" charset="0"/>
                <a:ea typeface="Arial Black" pitchFamily="34" charset="-122"/>
                <a:cs typeface="Arial Black" pitchFamily="34" charset="-120"/>
              </a:rPr>
              <a:t>DATABRICKS</a:t>
            </a:r>
            <a:endParaRPr lang="en-US" sz="1800" dirty="0"/>
          </a:p>
        </p:txBody>
      </p:sp>
      <p:sp>
        <p:nvSpPr>
          <p:cNvPr id="10" name="Text 8"/>
          <p:cNvSpPr/>
          <p:nvPr/>
        </p:nvSpPr>
        <p:spPr>
          <a:xfrm>
            <a:off x="457200" y="3456432"/>
            <a:ext cx="2487168" cy="11887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Cloud-based data processing and SQL analytics platform used for large-scale data transformation and querying of vehicle sales records.</a:t>
            </a:r>
            <a:endParaRPr lang="en-US" sz="1050" dirty="0"/>
          </a:p>
        </p:txBody>
      </p:sp>
      <p:sp>
        <p:nvSpPr>
          <p:cNvPr id="11" name="Shape 9"/>
          <p:cNvSpPr/>
          <p:nvPr/>
        </p:nvSpPr>
        <p:spPr>
          <a:xfrm>
            <a:off x="3200400" y="2057400"/>
            <a:ext cx="2743200" cy="2743200"/>
          </a:xfrm>
          <a:prstGeom prst="rect">
            <a:avLst/>
          </a:prstGeom>
          <a:solidFill>
            <a:srgbClr val="FFFFFF"/>
          </a:solidFill>
          <a:ln w="12700">
            <a:solidFill>
              <a:srgbClr val="E2E8F0"/>
            </a:solidFill>
            <a:prstDash val="solid"/>
          </a:ln>
          <a:effectLst>
            <a:outerShdw sx="100000" sy="100000" kx="0" ky="0" algn="bl" rotWithShape="0" blurRad="127000" dist="25400" dir="8100000">
              <a:srgbClr val="000000">
                <a:alpha val="8000"/>
              </a:srgbClr>
            </a:outerShdw>
          </a:effectLst>
        </p:spPr>
      </p:sp>
      <p:sp>
        <p:nvSpPr>
          <p:cNvPr id="12" name="Shape 10"/>
          <p:cNvSpPr/>
          <p:nvPr/>
        </p:nvSpPr>
        <p:spPr>
          <a:xfrm>
            <a:off x="3200400" y="2057400"/>
            <a:ext cx="2743200" cy="64008"/>
          </a:xfrm>
          <a:prstGeom prst="rect">
            <a:avLst/>
          </a:prstGeom>
          <a:solidFill>
            <a:srgbClr val="00D4E8"/>
          </a:solidFill>
          <a:ln w="12700">
            <a:solidFill>
              <a:srgbClr val="00D4E8"/>
            </a:solidFill>
            <a:prstDash val="solid"/>
          </a:ln>
        </p:spPr>
      </p:sp>
      <p:sp>
        <p:nvSpPr>
          <p:cNvPr id="13" name="Text 11"/>
          <p:cNvSpPr/>
          <p:nvPr/>
        </p:nvSpPr>
        <p:spPr>
          <a:xfrm>
            <a:off x="3200400" y="2240280"/>
            <a:ext cx="2743200" cy="59436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14" name="Text 12"/>
          <p:cNvSpPr/>
          <p:nvPr/>
        </p:nvSpPr>
        <p:spPr>
          <a:xfrm>
            <a:off x="3291840" y="2926080"/>
            <a:ext cx="2560320" cy="411480"/>
          </a:xfrm>
          <a:prstGeom prst="rect">
            <a:avLst/>
          </a:prstGeom>
          <a:noFill/>
          <a:ln/>
        </p:spPr>
        <p:txBody>
          <a:bodyPr wrap="square" lIns="0" tIns="0" rIns="0" bIns="0" rtlCol="0" anchor="ctr"/>
          <a:lstStyle/>
          <a:p>
            <a:pPr algn="ctr" indent="0" marL="0">
              <a:buNone/>
            </a:pPr>
            <a:r>
              <a:rPr lang="en-US" sz="1800" b="1" dirty="0">
                <a:solidFill>
                  <a:srgbClr val="0A0A0A"/>
                </a:solidFill>
                <a:latin typeface="Arial Black" pitchFamily="34" charset="0"/>
                <a:ea typeface="Arial Black" pitchFamily="34" charset="-122"/>
                <a:cs typeface="Arial Black" pitchFamily="34" charset="-120"/>
              </a:rPr>
              <a:t>EXCEL</a:t>
            </a:r>
            <a:endParaRPr lang="en-US" sz="1800" dirty="0"/>
          </a:p>
        </p:txBody>
      </p:sp>
      <p:sp>
        <p:nvSpPr>
          <p:cNvPr id="15" name="Text 13"/>
          <p:cNvSpPr/>
          <p:nvPr/>
        </p:nvSpPr>
        <p:spPr>
          <a:xfrm>
            <a:off x="3337560" y="3456432"/>
            <a:ext cx="2487168" cy="11887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Used for pivot tables, data aggregation, chart generation and creating summary dashboards from processed sales data.</a:t>
            </a:r>
            <a:endParaRPr lang="en-US" sz="1050" dirty="0"/>
          </a:p>
        </p:txBody>
      </p:sp>
      <p:sp>
        <p:nvSpPr>
          <p:cNvPr id="16" name="Shape 14"/>
          <p:cNvSpPr/>
          <p:nvPr/>
        </p:nvSpPr>
        <p:spPr>
          <a:xfrm>
            <a:off x="6080760" y="2057400"/>
            <a:ext cx="2743200" cy="2743200"/>
          </a:xfrm>
          <a:prstGeom prst="rect">
            <a:avLst/>
          </a:prstGeom>
          <a:solidFill>
            <a:srgbClr val="FFFFFF"/>
          </a:solidFill>
          <a:ln w="12700">
            <a:solidFill>
              <a:srgbClr val="E2E8F0"/>
            </a:solidFill>
            <a:prstDash val="solid"/>
          </a:ln>
          <a:effectLst>
            <a:outerShdw sx="100000" sy="100000" kx="0" ky="0" algn="bl" rotWithShape="0" blurRad="127000" dist="25400" dir="8100000">
              <a:srgbClr val="000000">
                <a:alpha val="8000"/>
              </a:srgbClr>
            </a:outerShdw>
          </a:effectLst>
        </p:spPr>
      </p:sp>
      <p:sp>
        <p:nvSpPr>
          <p:cNvPr id="17" name="Shape 15"/>
          <p:cNvSpPr/>
          <p:nvPr/>
        </p:nvSpPr>
        <p:spPr>
          <a:xfrm>
            <a:off x="6080760" y="2057400"/>
            <a:ext cx="2743200" cy="64008"/>
          </a:xfrm>
          <a:prstGeom prst="rect">
            <a:avLst/>
          </a:prstGeom>
          <a:solidFill>
            <a:srgbClr val="00D4E8"/>
          </a:solidFill>
          <a:ln w="12700">
            <a:solidFill>
              <a:srgbClr val="00D4E8"/>
            </a:solidFill>
            <a:prstDash val="solid"/>
          </a:ln>
        </p:spPr>
      </p:sp>
      <p:sp>
        <p:nvSpPr>
          <p:cNvPr id="18" name="Text 16"/>
          <p:cNvSpPr/>
          <p:nvPr/>
        </p:nvSpPr>
        <p:spPr>
          <a:xfrm>
            <a:off x="6080760" y="2240280"/>
            <a:ext cx="2743200" cy="59436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19" name="Text 17"/>
          <p:cNvSpPr/>
          <p:nvPr/>
        </p:nvSpPr>
        <p:spPr>
          <a:xfrm>
            <a:off x="6172200" y="2926080"/>
            <a:ext cx="2560320" cy="411480"/>
          </a:xfrm>
          <a:prstGeom prst="rect">
            <a:avLst/>
          </a:prstGeom>
          <a:noFill/>
          <a:ln/>
        </p:spPr>
        <p:txBody>
          <a:bodyPr wrap="square" lIns="0" tIns="0" rIns="0" bIns="0" rtlCol="0" anchor="ctr"/>
          <a:lstStyle/>
          <a:p>
            <a:pPr algn="ctr" indent="0" marL="0">
              <a:buNone/>
            </a:pPr>
            <a:r>
              <a:rPr lang="en-US" sz="1800" b="1" dirty="0">
                <a:solidFill>
                  <a:srgbClr val="0A0A0A"/>
                </a:solidFill>
                <a:latin typeface="Arial Black" pitchFamily="34" charset="0"/>
                <a:ea typeface="Arial Black" pitchFamily="34" charset="-122"/>
                <a:cs typeface="Arial Black" pitchFamily="34" charset="-120"/>
              </a:rPr>
              <a:t>CANVA</a:t>
            </a:r>
            <a:endParaRPr lang="en-US" sz="1800" dirty="0"/>
          </a:p>
        </p:txBody>
      </p:sp>
      <p:sp>
        <p:nvSpPr>
          <p:cNvPr id="20" name="Text 18"/>
          <p:cNvSpPr/>
          <p:nvPr/>
        </p:nvSpPr>
        <p:spPr>
          <a:xfrm>
            <a:off x="6217920" y="3456432"/>
            <a:ext cx="2487168" cy="11887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Used to design and present findings visually, ensuring the analysis is communicated clearly to business stakeholders.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D4E8"/>
          </a:solidFill>
          <a:ln w="12700">
            <a:solidFill>
              <a:srgbClr val="00D4E8"/>
            </a:solidFill>
            <a:prstDash val="solid"/>
          </a:ln>
        </p:spPr>
      </p:sp>
      <p:sp>
        <p:nvSpPr>
          <p:cNvPr id="3" name="Shape 1"/>
          <p:cNvSpPr/>
          <p:nvPr/>
        </p:nvSpPr>
        <p:spPr>
          <a:xfrm>
            <a:off x="0" y="5079492"/>
            <a:ext cx="9144000" cy="64008"/>
          </a:xfrm>
          <a:prstGeom prst="rect">
            <a:avLst/>
          </a:prstGeom>
          <a:solidFill>
            <a:srgbClr val="00D4E8"/>
          </a:solidFill>
          <a:ln w="12700">
            <a:solidFill>
              <a:srgbClr val="00D4E8"/>
            </a:solidFill>
            <a:prstDash val="solid"/>
          </a:ln>
        </p:spPr>
      </p:sp>
      <p:sp>
        <p:nvSpPr>
          <p:cNvPr id="4" name="Text 2"/>
          <p:cNvSpPr/>
          <p:nvPr/>
        </p:nvSpPr>
        <p:spPr>
          <a:xfrm>
            <a:off x="457200" y="548640"/>
            <a:ext cx="8229600" cy="548640"/>
          </a:xfrm>
          <a:prstGeom prst="rect">
            <a:avLst/>
          </a:prstGeom>
          <a:noFill/>
          <a:ln/>
        </p:spPr>
        <p:txBody>
          <a:bodyPr wrap="square" lIns="0" tIns="0" rIns="0" bIns="0" rtlCol="0" anchor="ctr"/>
          <a:lstStyle/>
          <a:p>
            <a:pPr algn="ctr" indent="0" marL="0">
              <a:buNone/>
            </a:pPr>
            <a:r>
              <a:rPr lang="en-US" sz="1800" spc="600" kern="0" dirty="0">
                <a:solidFill>
                  <a:srgbClr val="94A3B8"/>
                </a:solidFill>
                <a:latin typeface="Calibri" pitchFamily="34" charset="0"/>
                <a:ea typeface="Calibri" pitchFamily="34" charset="-122"/>
                <a:cs typeface="Calibri" pitchFamily="34" charset="-120"/>
              </a:rPr>
              <a:t>TOTAL REVENUE</a:t>
            </a:r>
            <a:endParaRPr lang="en-US" sz="1800" dirty="0"/>
          </a:p>
        </p:txBody>
      </p:sp>
      <p:sp>
        <p:nvSpPr>
          <p:cNvPr id="5" name="Text 3"/>
          <p:cNvSpPr/>
          <p:nvPr/>
        </p:nvSpPr>
        <p:spPr>
          <a:xfrm>
            <a:off x="457200" y="1051560"/>
            <a:ext cx="8229600" cy="457200"/>
          </a:xfrm>
          <a:prstGeom prst="rect">
            <a:avLst/>
          </a:prstGeom>
          <a:noFill/>
          <a:ln/>
        </p:spPr>
        <p:txBody>
          <a:bodyPr wrap="square" lIns="0" tIns="0" rIns="0" bIns="0" rtlCol="0" anchor="ctr"/>
          <a:lstStyle/>
          <a:p>
            <a:pPr algn="ctr" indent="0" marL="0">
              <a:buNone/>
            </a:pPr>
            <a:r>
              <a:rPr lang="en-US" sz="1500" spc="400" kern="0" dirty="0">
                <a:solidFill>
                  <a:srgbClr val="94A3B8"/>
                </a:solidFill>
                <a:latin typeface="Calibri" pitchFamily="34" charset="0"/>
                <a:ea typeface="Calibri" pitchFamily="34" charset="-122"/>
                <a:cs typeface="Calibri" pitchFamily="34" charset="-120"/>
              </a:rPr>
              <a:t>AFTER ALL SALES</a:t>
            </a:r>
            <a:endParaRPr lang="en-US" sz="1500" dirty="0"/>
          </a:p>
        </p:txBody>
      </p:sp>
      <p:sp>
        <p:nvSpPr>
          <p:cNvPr id="6" name="Text 4"/>
          <p:cNvSpPr/>
          <p:nvPr/>
        </p:nvSpPr>
        <p:spPr>
          <a:xfrm>
            <a:off x="182880" y="1600200"/>
            <a:ext cx="8778240" cy="1463040"/>
          </a:xfrm>
          <a:prstGeom prst="rect">
            <a:avLst/>
          </a:prstGeom>
          <a:noFill/>
          <a:ln/>
        </p:spPr>
        <p:txBody>
          <a:bodyPr wrap="square" lIns="0" tIns="0" rIns="0" bIns="0" rtlCol="0" anchor="ctr"/>
          <a:lstStyle/>
          <a:p>
            <a:pPr algn="ctr" indent="0" marL="0">
              <a:buNone/>
            </a:pPr>
            <a:r>
              <a:rPr lang="en-US" sz="7200" b="1" dirty="0">
                <a:solidFill>
                  <a:srgbClr val="00D4E8"/>
                </a:solidFill>
                <a:latin typeface="Arial Black" pitchFamily="34" charset="0"/>
                <a:ea typeface="Arial Black" pitchFamily="34" charset="-122"/>
                <a:cs typeface="Arial Black" pitchFamily="34" charset="-120"/>
              </a:rPr>
              <a:t>R7,606,012,287</a:t>
            </a:r>
            <a:endParaRPr lang="en-US" sz="7200" dirty="0"/>
          </a:p>
        </p:txBody>
      </p:sp>
      <p:sp>
        <p:nvSpPr>
          <p:cNvPr id="7" name="Shape 5"/>
          <p:cNvSpPr/>
          <p:nvPr/>
        </p:nvSpPr>
        <p:spPr>
          <a:xfrm>
            <a:off x="3200400" y="3246120"/>
            <a:ext cx="2743200" cy="45720"/>
          </a:xfrm>
          <a:prstGeom prst="rect">
            <a:avLst/>
          </a:prstGeom>
          <a:solidFill>
            <a:srgbClr val="00D4E8"/>
          </a:solidFill>
          <a:ln w="12700">
            <a:solidFill>
              <a:srgbClr val="00D4E8"/>
            </a:solidFill>
            <a:prstDash val="solid"/>
          </a:ln>
        </p:spPr>
      </p:sp>
      <p:sp>
        <p:nvSpPr>
          <p:cNvPr id="8" name="Text 6"/>
          <p:cNvSpPr/>
          <p:nvPr/>
        </p:nvSpPr>
        <p:spPr>
          <a:xfrm>
            <a:off x="731520" y="3429000"/>
            <a:ext cx="2468880" cy="59436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Black" pitchFamily="34" charset="0"/>
                <a:ea typeface="Arial Black" pitchFamily="34" charset="-122"/>
                <a:cs typeface="Arial Black" pitchFamily="34" charset="-120"/>
              </a:rPr>
              <a:t>290,080</a:t>
            </a:r>
            <a:endParaRPr lang="en-US" sz="3000" dirty="0"/>
          </a:p>
        </p:txBody>
      </p:sp>
      <p:sp>
        <p:nvSpPr>
          <p:cNvPr id="9" name="Text 7"/>
          <p:cNvSpPr/>
          <p:nvPr/>
        </p:nvSpPr>
        <p:spPr>
          <a:xfrm>
            <a:off x="731520" y="4041648"/>
            <a:ext cx="2468880" cy="32004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Total Units Sold</a:t>
            </a:r>
            <a:endParaRPr lang="en-US" sz="1200" dirty="0"/>
          </a:p>
        </p:txBody>
      </p:sp>
      <p:sp>
        <p:nvSpPr>
          <p:cNvPr id="10" name="Text 8"/>
          <p:cNvSpPr/>
          <p:nvPr/>
        </p:nvSpPr>
        <p:spPr>
          <a:xfrm>
            <a:off x="3611880" y="3429000"/>
            <a:ext cx="2468880" cy="59436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Black" pitchFamily="34" charset="0"/>
                <a:ea typeface="Arial Black" pitchFamily="34" charset="-122"/>
                <a:cs typeface="Arial Black" pitchFamily="34" charset="-120"/>
              </a:rPr>
              <a:t>R26,217</a:t>
            </a:r>
            <a:endParaRPr lang="en-US" sz="3000" dirty="0"/>
          </a:p>
        </p:txBody>
      </p:sp>
      <p:sp>
        <p:nvSpPr>
          <p:cNvPr id="11" name="Text 9"/>
          <p:cNvSpPr/>
          <p:nvPr/>
        </p:nvSpPr>
        <p:spPr>
          <a:xfrm>
            <a:off x="3611880" y="4041648"/>
            <a:ext cx="2468880" cy="32004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Avg Selling Price</a:t>
            </a:r>
            <a:endParaRPr lang="en-US" sz="1200" dirty="0"/>
          </a:p>
        </p:txBody>
      </p:sp>
      <p:sp>
        <p:nvSpPr>
          <p:cNvPr id="12" name="Text 10"/>
          <p:cNvSpPr/>
          <p:nvPr/>
        </p:nvSpPr>
        <p:spPr>
          <a:xfrm>
            <a:off x="6492240" y="3429000"/>
            <a:ext cx="2468880" cy="59436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Black" pitchFamily="34" charset="0"/>
                <a:ea typeface="Arial Black" pitchFamily="34" charset="-122"/>
                <a:cs typeface="Arial Black" pitchFamily="34" charset="-120"/>
              </a:rPr>
              <a:t>5 States</a:t>
            </a:r>
            <a:endParaRPr lang="en-US" sz="3000" dirty="0"/>
          </a:p>
        </p:txBody>
      </p:sp>
      <p:sp>
        <p:nvSpPr>
          <p:cNvPr id="13" name="Text 11"/>
          <p:cNvSpPr/>
          <p:nvPr/>
        </p:nvSpPr>
        <p:spPr>
          <a:xfrm>
            <a:off x="6492240" y="4041648"/>
            <a:ext cx="2468880" cy="32004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Top Regions Covered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0A0A"/>
          </a:solidFill>
          <a:ln w="12700">
            <a:solidFill>
              <a:srgbClr val="0A0A0A"/>
            </a:solidFill>
            <a:prstDash val="solid"/>
          </a:ln>
        </p:spPr>
      </p:sp>
      <p:sp>
        <p:nvSpPr>
          <p:cNvPr id="3" name="Shape 1"/>
          <p:cNvSpPr/>
          <p:nvPr/>
        </p:nvSpPr>
        <p:spPr>
          <a:xfrm>
            <a:off x="0" y="932688"/>
            <a:ext cx="9144000" cy="64008"/>
          </a:xfrm>
          <a:prstGeom prst="rect">
            <a:avLst/>
          </a:prstGeom>
          <a:solidFill>
            <a:srgbClr val="00D4E8"/>
          </a:solidFill>
          <a:ln w="12700">
            <a:solidFill>
              <a:srgbClr val="00D4E8"/>
            </a:solidFill>
            <a:prstDash val="solid"/>
          </a:ln>
        </p:spPr>
      </p:sp>
      <p:sp>
        <p:nvSpPr>
          <p:cNvPr id="4" name="Text 2"/>
          <p:cNvSpPr/>
          <p:nvPr/>
        </p:nvSpPr>
        <p:spPr>
          <a:xfrm>
            <a:off x="457200" y="137160"/>
            <a:ext cx="6858000" cy="713232"/>
          </a:xfrm>
          <a:prstGeom prst="rect">
            <a:avLst/>
          </a:prstGeom>
          <a:noFill/>
          <a:ln/>
        </p:spPr>
        <p:txBody>
          <a:bodyPr wrap="square" lIns="0" tIns="0" rIns="0" bIns="0" rtlCol="0" anchor="ctr"/>
          <a:lstStyle/>
          <a:p>
            <a:pPr algn="l" indent="0" marL="0">
              <a:buNone/>
            </a:pPr>
            <a:r>
              <a:rPr lang="en-US" sz="2800" b="1" dirty="0">
                <a:solidFill>
                  <a:srgbClr val="FFFFFF"/>
                </a:solidFill>
                <a:latin typeface="Arial Black" pitchFamily="34" charset="0"/>
                <a:ea typeface="Arial Black" pitchFamily="34" charset="-122"/>
                <a:cs typeface="Arial Black" pitchFamily="34" charset="-120"/>
              </a:rPr>
              <a:t>MAKE WITH THE MOST SALES</a:t>
            </a:r>
            <a:endParaRPr lang="en-US" sz="2800" dirty="0"/>
          </a:p>
        </p:txBody>
      </p:sp>
      <p:sp>
        <p:nvSpPr>
          <p:cNvPr id="5" name="Text 3"/>
          <p:cNvSpPr/>
          <p:nvPr/>
        </p:nvSpPr>
        <p:spPr>
          <a:xfrm>
            <a:off x="6949440" y="274320"/>
            <a:ext cx="2011680" cy="365760"/>
          </a:xfrm>
          <a:prstGeom prst="rect">
            <a:avLst/>
          </a:prstGeom>
          <a:noFill/>
          <a:ln/>
        </p:spPr>
        <p:txBody>
          <a:bodyPr wrap="square" lIns="0" tIns="0" rIns="0" bIns="0" rtlCol="0" anchor="ctr"/>
          <a:lstStyle/>
          <a:p>
            <a:pPr algn="r" indent="0" marL="0">
              <a:buNone/>
            </a:pPr>
            <a:r>
              <a:rPr lang="en-US" sz="1200" dirty="0">
                <a:solidFill>
                  <a:srgbClr val="00D4E8"/>
                </a:solidFill>
                <a:latin typeface="Calibri" pitchFamily="34" charset="0"/>
                <a:ea typeface="Calibri" pitchFamily="34" charset="-122"/>
                <a:cs typeface="Calibri" pitchFamily="34" charset="-120"/>
              </a:rPr>
              <a:t>Top 10 brands by units sold</a:t>
            </a:r>
            <a:endParaRPr lang="en-US" sz="1200" dirty="0"/>
          </a:p>
        </p:txBody>
      </p:sp>
      <p:graphicFrame>
        <p:nvGraphicFramePr>
          <p:cNvPr id="6" name="Chart 0" descr=""/>
          <p:cNvGraphicFramePr/>
          <p:nvPr/>
        </p:nvGraphicFramePr>
        <p:xfrm>
          <a:off x="274320" y="1115568"/>
          <a:ext cx="5943600" cy="37490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400800" y="1234440"/>
            <a:ext cx="2468880" cy="1005840"/>
          </a:xfrm>
          <a:prstGeom prst="rect">
            <a:avLst/>
          </a:prstGeom>
          <a:solidFill>
            <a:srgbClr val="FFFFFF"/>
          </a:solidFill>
          <a:ln w="12700">
            <a:solidFill>
              <a:srgbClr val="E2E8F0"/>
            </a:solidFill>
            <a:prstDash val="solid"/>
          </a:ln>
          <a:effectLst>
            <a:outerShdw sx="100000" sy="100000" kx="0" ky="0" algn="bl" rotWithShape="0" blurRad="76200" dist="25400" dir="8100000">
              <a:srgbClr val="000000">
                <a:alpha val="8000"/>
              </a:srgbClr>
            </a:outerShdw>
          </a:effectLst>
        </p:spPr>
      </p:sp>
      <p:sp>
        <p:nvSpPr>
          <p:cNvPr id="8" name="Shape 5"/>
          <p:cNvSpPr/>
          <p:nvPr/>
        </p:nvSpPr>
        <p:spPr>
          <a:xfrm>
            <a:off x="6400800" y="1234440"/>
            <a:ext cx="2468880" cy="54864"/>
          </a:xfrm>
          <a:prstGeom prst="rect">
            <a:avLst/>
          </a:prstGeom>
          <a:solidFill>
            <a:srgbClr val="00D4E8"/>
          </a:solidFill>
          <a:ln w="12700">
            <a:solidFill>
              <a:srgbClr val="00D4E8"/>
            </a:solidFill>
            <a:prstDash val="solid"/>
          </a:ln>
        </p:spPr>
      </p:sp>
      <p:sp>
        <p:nvSpPr>
          <p:cNvPr id="9" name="Text 6"/>
          <p:cNvSpPr/>
          <p:nvPr/>
        </p:nvSpPr>
        <p:spPr>
          <a:xfrm>
            <a:off x="6400800" y="1307592"/>
            <a:ext cx="2468880" cy="475488"/>
          </a:xfrm>
          <a:prstGeom prst="rect">
            <a:avLst/>
          </a:prstGeom>
          <a:noFill/>
          <a:ln/>
        </p:spPr>
        <p:txBody>
          <a:bodyPr wrap="square" lIns="0" tIns="0" rIns="0" bIns="0" rtlCol="0" anchor="ctr"/>
          <a:lstStyle/>
          <a:p>
            <a:pPr algn="ctr" indent="0" marL="0">
              <a:buNone/>
            </a:pPr>
            <a:r>
              <a:rPr lang="en-US" sz="2800" b="1" dirty="0">
                <a:solidFill>
                  <a:srgbClr val="00D4E8"/>
                </a:solidFill>
                <a:latin typeface="Arial Black" pitchFamily="34" charset="0"/>
                <a:ea typeface="Arial Black" pitchFamily="34" charset="-122"/>
                <a:cs typeface="Arial Black" pitchFamily="34" charset="-120"/>
              </a:rPr>
              <a:t>#1</a:t>
            </a:r>
            <a:endParaRPr lang="en-US" sz="2800" dirty="0"/>
          </a:p>
        </p:txBody>
      </p:sp>
      <p:sp>
        <p:nvSpPr>
          <p:cNvPr id="10" name="Text 7"/>
          <p:cNvSpPr/>
          <p:nvPr/>
        </p:nvSpPr>
        <p:spPr>
          <a:xfrm>
            <a:off x="6400800" y="1783080"/>
            <a:ext cx="2468880" cy="219456"/>
          </a:xfrm>
          <a:prstGeom prst="rect">
            <a:avLst/>
          </a:prstGeom>
          <a:noFill/>
          <a:ln/>
        </p:spPr>
        <p:txBody>
          <a:bodyPr wrap="square" lIns="0" tIns="0" rIns="0" bIns="0" rtlCol="0" anchor="ctr"/>
          <a:lstStyle/>
          <a:p>
            <a:pPr algn="ctr" indent="0" marL="0">
              <a:buNone/>
            </a:pPr>
            <a:r>
              <a:rPr lang="en-US" sz="1100" b="1" dirty="0">
                <a:solidFill>
                  <a:srgbClr val="0A0A0A"/>
                </a:solidFill>
                <a:latin typeface="Calibri" pitchFamily="34" charset="0"/>
                <a:ea typeface="Calibri" pitchFamily="34" charset="-122"/>
                <a:cs typeface="Calibri" pitchFamily="34" charset="-120"/>
              </a:rPr>
              <a:t>Ford Leads</a:t>
            </a:r>
            <a:endParaRPr lang="en-US" sz="1100" dirty="0"/>
          </a:p>
        </p:txBody>
      </p:sp>
      <p:sp>
        <p:nvSpPr>
          <p:cNvPr id="11" name="Text 8"/>
          <p:cNvSpPr/>
          <p:nvPr/>
        </p:nvSpPr>
        <p:spPr>
          <a:xfrm>
            <a:off x="6400800" y="1993392"/>
            <a:ext cx="2468880" cy="201168"/>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93,000 units</a:t>
            </a:r>
            <a:endParaRPr lang="en-US" sz="1000" dirty="0"/>
          </a:p>
        </p:txBody>
      </p:sp>
      <p:sp>
        <p:nvSpPr>
          <p:cNvPr id="12" name="Shape 9"/>
          <p:cNvSpPr/>
          <p:nvPr/>
        </p:nvSpPr>
        <p:spPr>
          <a:xfrm>
            <a:off x="6400800" y="2423160"/>
            <a:ext cx="2468880" cy="1005840"/>
          </a:xfrm>
          <a:prstGeom prst="rect">
            <a:avLst/>
          </a:prstGeom>
          <a:solidFill>
            <a:srgbClr val="FFFFFF"/>
          </a:solidFill>
          <a:ln w="12700">
            <a:solidFill>
              <a:srgbClr val="E2E8F0"/>
            </a:solidFill>
            <a:prstDash val="solid"/>
          </a:ln>
          <a:effectLst>
            <a:outerShdw sx="100000" sy="100000" kx="0" ky="0" algn="bl" rotWithShape="0" blurRad="76200" dist="25400" dir="8100000">
              <a:srgbClr val="000000">
                <a:alpha val="8000"/>
              </a:srgbClr>
            </a:outerShdw>
          </a:effectLst>
        </p:spPr>
      </p:sp>
      <p:sp>
        <p:nvSpPr>
          <p:cNvPr id="13" name="Shape 10"/>
          <p:cNvSpPr/>
          <p:nvPr/>
        </p:nvSpPr>
        <p:spPr>
          <a:xfrm>
            <a:off x="6400800" y="2423160"/>
            <a:ext cx="2468880" cy="54864"/>
          </a:xfrm>
          <a:prstGeom prst="rect">
            <a:avLst/>
          </a:prstGeom>
          <a:solidFill>
            <a:srgbClr val="10B981"/>
          </a:solidFill>
          <a:ln w="12700">
            <a:solidFill>
              <a:srgbClr val="10B981"/>
            </a:solidFill>
            <a:prstDash val="solid"/>
          </a:ln>
        </p:spPr>
      </p:sp>
      <p:sp>
        <p:nvSpPr>
          <p:cNvPr id="14" name="Text 11"/>
          <p:cNvSpPr/>
          <p:nvPr/>
        </p:nvSpPr>
        <p:spPr>
          <a:xfrm>
            <a:off x="6400800" y="2496312"/>
            <a:ext cx="2468880" cy="475488"/>
          </a:xfrm>
          <a:prstGeom prst="rect">
            <a:avLst/>
          </a:prstGeom>
          <a:noFill/>
          <a:ln/>
        </p:spPr>
        <p:txBody>
          <a:bodyPr wrap="square" lIns="0" tIns="0" rIns="0" bIns="0" rtlCol="0" anchor="ctr"/>
          <a:lstStyle/>
          <a:p>
            <a:pPr algn="ctr" indent="0" marL="0">
              <a:buNone/>
            </a:pPr>
            <a:r>
              <a:rPr lang="en-US" sz="2800" b="1" dirty="0">
                <a:solidFill>
                  <a:srgbClr val="10B981"/>
                </a:solidFill>
                <a:latin typeface="Arial Black" pitchFamily="34" charset="0"/>
                <a:ea typeface="Arial Black" pitchFamily="34" charset="-122"/>
                <a:cs typeface="Arial Black" pitchFamily="34" charset="-120"/>
              </a:rPr>
              <a:t>+55%</a:t>
            </a:r>
            <a:endParaRPr lang="en-US" sz="2800" dirty="0"/>
          </a:p>
        </p:txBody>
      </p:sp>
      <p:sp>
        <p:nvSpPr>
          <p:cNvPr id="15" name="Text 12"/>
          <p:cNvSpPr/>
          <p:nvPr/>
        </p:nvSpPr>
        <p:spPr>
          <a:xfrm>
            <a:off x="6400800" y="2971800"/>
            <a:ext cx="2468880" cy="219456"/>
          </a:xfrm>
          <a:prstGeom prst="rect">
            <a:avLst/>
          </a:prstGeom>
          <a:noFill/>
          <a:ln/>
        </p:spPr>
        <p:txBody>
          <a:bodyPr wrap="square" lIns="0" tIns="0" rIns="0" bIns="0" rtlCol="0" anchor="ctr"/>
          <a:lstStyle/>
          <a:p>
            <a:pPr algn="ctr" indent="0" marL="0">
              <a:buNone/>
            </a:pPr>
            <a:r>
              <a:rPr lang="en-US" sz="1100" b="1" dirty="0">
                <a:solidFill>
                  <a:srgbClr val="0A0A0A"/>
                </a:solidFill>
                <a:latin typeface="Calibri" pitchFamily="34" charset="0"/>
                <a:ea typeface="Calibri" pitchFamily="34" charset="-122"/>
                <a:cs typeface="Calibri" pitchFamily="34" charset="-120"/>
              </a:rPr>
              <a:t>Ford vs #2</a:t>
            </a:r>
            <a:endParaRPr lang="en-US" sz="1100" dirty="0"/>
          </a:p>
        </p:txBody>
      </p:sp>
      <p:sp>
        <p:nvSpPr>
          <p:cNvPr id="16" name="Text 13"/>
          <p:cNvSpPr/>
          <p:nvPr/>
        </p:nvSpPr>
        <p:spPr>
          <a:xfrm>
            <a:off x="6400800" y="3182112"/>
            <a:ext cx="2468880" cy="201168"/>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Chevrolet 60K</a:t>
            </a:r>
            <a:endParaRPr lang="en-US" sz="1000" dirty="0"/>
          </a:p>
        </p:txBody>
      </p:sp>
      <p:sp>
        <p:nvSpPr>
          <p:cNvPr id="17" name="Shape 14"/>
          <p:cNvSpPr/>
          <p:nvPr/>
        </p:nvSpPr>
        <p:spPr>
          <a:xfrm>
            <a:off x="6400800" y="3611880"/>
            <a:ext cx="2468880" cy="1005840"/>
          </a:xfrm>
          <a:prstGeom prst="rect">
            <a:avLst/>
          </a:prstGeom>
          <a:solidFill>
            <a:srgbClr val="FFFFFF"/>
          </a:solidFill>
          <a:ln w="12700">
            <a:solidFill>
              <a:srgbClr val="E2E8F0"/>
            </a:solidFill>
            <a:prstDash val="solid"/>
          </a:ln>
          <a:effectLst>
            <a:outerShdw sx="100000" sy="100000" kx="0" ky="0" algn="bl" rotWithShape="0" blurRad="76200" dist="25400" dir="8100000">
              <a:srgbClr val="000000">
                <a:alpha val="8000"/>
              </a:srgbClr>
            </a:outerShdw>
          </a:effectLst>
        </p:spPr>
      </p:sp>
      <p:sp>
        <p:nvSpPr>
          <p:cNvPr id="18" name="Shape 15"/>
          <p:cNvSpPr/>
          <p:nvPr/>
        </p:nvSpPr>
        <p:spPr>
          <a:xfrm>
            <a:off x="6400800" y="3611880"/>
            <a:ext cx="2468880" cy="54864"/>
          </a:xfrm>
          <a:prstGeom prst="rect">
            <a:avLst/>
          </a:prstGeom>
          <a:solidFill>
            <a:srgbClr val="F59E0B"/>
          </a:solidFill>
          <a:ln w="12700">
            <a:solidFill>
              <a:srgbClr val="F59E0B"/>
            </a:solidFill>
            <a:prstDash val="solid"/>
          </a:ln>
        </p:spPr>
      </p:sp>
      <p:sp>
        <p:nvSpPr>
          <p:cNvPr id="19" name="Text 16"/>
          <p:cNvSpPr/>
          <p:nvPr/>
        </p:nvSpPr>
        <p:spPr>
          <a:xfrm>
            <a:off x="6400800" y="3685032"/>
            <a:ext cx="2468880" cy="475488"/>
          </a:xfrm>
          <a:prstGeom prst="rect">
            <a:avLst/>
          </a:prstGeom>
          <a:noFill/>
          <a:ln/>
        </p:spPr>
        <p:txBody>
          <a:bodyPr wrap="square" lIns="0" tIns="0" rIns="0" bIns="0" rtlCol="0" anchor="ctr"/>
          <a:lstStyle/>
          <a:p>
            <a:pPr algn="ctr" indent="0" marL="0">
              <a:buNone/>
            </a:pPr>
            <a:r>
              <a:rPr lang="en-US" sz="2800" b="1" dirty="0">
                <a:solidFill>
                  <a:srgbClr val="F59E0B"/>
                </a:solidFill>
                <a:latin typeface="Arial Black" pitchFamily="34" charset="0"/>
                <a:ea typeface="Arial Black" pitchFamily="34" charset="-122"/>
                <a:cs typeface="Arial Black" pitchFamily="34" charset="-120"/>
              </a:rPr>
              <a:t>55%</a:t>
            </a:r>
            <a:endParaRPr lang="en-US" sz="2800" dirty="0"/>
          </a:p>
        </p:txBody>
      </p:sp>
      <p:sp>
        <p:nvSpPr>
          <p:cNvPr id="20" name="Text 17"/>
          <p:cNvSpPr/>
          <p:nvPr/>
        </p:nvSpPr>
        <p:spPr>
          <a:xfrm>
            <a:off x="6400800" y="4160520"/>
            <a:ext cx="2468880" cy="219456"/>
          </a:xfrm>
          <a:prstGeom prst="rect">
            <a:avLst/>
          </a:prstGeom>
          <a:noFill/>
          <a:ln/>
        </p:spPr>
        <p:txBody>
          <a:bodyPr wrap="square" lIns="0" tIns="0" rIns="0" bIns="0" rtlCol="0" anchor="ctr"/>
          <a:lstStyle/>
          <a:p>
            <a:pPr algn="ctr" indent="0" marL="0">
              <a:buNone/>
            </a:pPr>
            <a:r>
              <a:rPr lang="en-US" sz="1100" b="1" dirty="0">
                <a:solidFill>
                  <a:srgbClr val="0A0A0A"/>
                </a:solidFill>
                <a:latin typeface="Calibri" pitchFamily="34" charset="0"/>
                <a:ea typeface="Calibri" pitchFamily="34" charset="-122"/>
                <a:cs typeface="Calibri" pitchFamily="34" charset="-120"/>
              </a:rPr>
              <a:t>Top 3 Share</a:t>
            </a:r>
            <a:endParaRPr lang="en-US" sz="1100" dirty="0"/>
          </a:p>
        </p:txBody>
      </p:sp>
      <p:sp>
        <p:nvSpPr>
          <p:cNvPr id="21" name="Text 18"/>
          <p:cNvSpPr/>
          <p:nvPr/>
        </p:nvSpPr>
        <p:spPr>
          <a:xfrm>
            <a:off x="6400800" y="4370832"/>
            <a:ext cx="2468880" cy="201168"/>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of total volume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D4E8"/>
          </a:solidFill>
          <a:ln w="12700">
            <a:solidFill>
              <a:srgbClr val="00D4E8"/>
            </a:solidFill>
            <a:prstDash val="solid"/>
          </a:ln>
        </p:spPr>
      </p:sp>
      <p:sp>
        <p:nvSpPr>
          <p:cNvPr id="3" name="Text 1"/>
          <p:cNvSpPr/>
          <p:nvPr/>
        </p:nvSpPr>
        <p:spPr>
          <a:xfrm>
            <a:off x="457200" y="182880"/>
            <a:ext cx="8229600"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REGIONAL SALES PERFORMANCE</a:t>
            </a:r>
            <a:endParaRPr lang="en-US" sz="3200" dirty="0"/>
          </a:p>
        </p:txBody>
      </p:sp>
      <p:sp>
        <p:nvSpPr>
          <p:cNvPr id="4" name="Text 2"/>
          <p:cNvSpPr/>
          <p:nvPr/>
        </p:nvSpPr>
        <p:spPr>
          <a:xfrm>
            <a:off x="457200" y="841248"/>
            <a:ext cx="8229600" cy="292608"/>
          </a:xfrm>
          <a:prstGeom prst="rect">
            <a:avLst/>
          </a:prstGeom>
          <a:noFill/>
          <a:ln/>
        </p:spPr>
        <p:txBody>
          <a:bodyPr wrap="square" lIns="0" tIns="0" rIns="0" bIns="0" rtlCol="0" anchor="ctr"/>
          <a:lstStyle/>
          <a:p>
            <a:pPr algn="l" indent="0" marL="0">
              <a:buNone/>
            </a:pPr>
            <a:r>
              <a:rPr lang="en-US" sz="1200" dirty="0">
                <a:solidFill>
                  <a:srgbClr val="94A3B8"/>
                </a:solidFill>
                <a:latin typeface="Calibri" pitchFamily="34" charset="0"/>
                <a:ea typeface="Calibri" pitchFamily="34" charset="-122"/>
                <a:cs typeface="Calibri" pitchFamily="34" charset="-120"/>
              </a:rPr>
              <a:t>Top 5 States  ·  290,080 total units  ·  R4.13B from top states alone</a:t>
            </a:r>
            <a:endParaRPr lang="en-US" sz="1200" dirty="0"/>
          </a:p>
        </p:txBody>
      </p:sp>
      <p:sp>
        <p:nvSpPr>
          <p:cNvPr id="5" name="Shape 3"/>
          <p:cNvSpPr/>
          <p:nvPr/>
        </p:nvSpPr>
        <p:spPr>
          <a:xfrm>
            <a:off x="320040" y="1298448"/>
            <a:ext cx="621792" cy="493776"/>
          </a:xfrm>
          <a:prstGeom prst="rect">
            <a:avLst/>
          </a:prstGeom>
          <a:solidFill>
            <a:srgbClr val="00D4E8"/>
          </a:solidFill>
          <a:ln w="12700">
            <a:solidFill>
              <a:srgbClr val="00D4E8"/>
            </a:solidFill>
            <a:prstDash val="solid"/>
          </a:ln>
        </p:spPr>
      </p:sp>
      <p:sp>
        <p:nvSpPr>
          <p:cNvPr id="6" name="Text 4"/>
          <p:cNvSpPr/>
          <p:nvPr/>
        </p:nvSpPr>
        <p:spPr>
          <a:xfrm>
            <a:off x="320040" y="1298448"/>
            <a:ext cx="621792" cy="493776"/>
          </a:xfrm>
          <a:prstGeom prst="rect">
            <a:avLst/>
          </a:prstGeom>
          <a:noFill/>
          <a:ln/>
        </p:spPr>
        <p:txBody>
          <a:bodyPr wrap="square" lIns="0" tIns="0" rIns="0" bIns="0" rtlCol="0" anchor="ctr"/>
          <a:lstStyle/>
          <a:p>
            <a:pPr algn="ctr" indent="0" marL="0">
              <a:buNone/>
            </a:pPr>
            <a:r>
              <a:rPr lang="en-US" sz="1500" b="1" dirty="0">
                <a:solidFill>
                  <a:srgbClr val="0A0A0A"/>
                </a:solidFill>
                <a:latin typeface="Arial Black" pitchFamily="34" charset="0"/>
                <a:ea typeface="Arial Black" pitchFamily="34" charset="-122"/>
                <a:cs typeface="Arial Black" pitchFamily="34" charset="-120"/>
              </a:rPr>
              <a:t>FL</a:t>
            </a:r>
            <a:endParaRPr lang="en-US" sz="1500" dirty="0"/>
          </a:p>
        </p:txBody>
      </p:sp>
      <p:sp>
        <p:nvSpPr>
          <p:cNvPr id="7" name="Text 5"/>
          <p:cNvSpPr/>
          <p:nvPr/>
        </p:nvSpPr>
        <p:spPr>
          <a:xfrm>
            <a:off x="1078992" y="1325880"/>
            <a:ext cx="1371600" cy="25603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Florida</a:t>
            </a:r>
            <a:endParaRPr lang="en-US" sz="1200" dirty="0"/>
          </a:p>
        </p:txBody>
      </p:sp>
      <p:sp>
        <p:nvSpPr>
          <p:cNvPr id="8" name="Text 6"/>
          <p:cNvSpPr/>
          <p:nvPr/>
        </p:nvSpPr>
        <p:spPr>
          <a:xfrm>
            <a:off x="1078992" y="1572768"/>
            <a:ext cx="1371600" cy="182880"/>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82,862 units</a:t>
            </a:r>
            <a:endParaRPr lang="en-US" sz="1000" dirty="0"/>
          </a:p>
        </p:txBody>
      </p:sp>
      <p:sp>
        <p:nvSpPr>
          <p:cNvPr id="9" name="Shape 7"/>
          <p:cNvSpPr/>
          <p:nvPr/>
        </p:nvSpPr>
        <p:spPr>
          <a:xfrm>
            <a:off x="2560320" y="1453896"/>
            <a:ext cx="5029200" cy="201168"/>
          </a:xfrm>
          <a:prstGeom prst="rect">
            <a:avLst/>
          </a:prstGeom>
          <a:solidFill>
            <a:srgbClr val="1E1E1E"/>
          </a:solidFill>
          <a:ln w="12700">
            <a:solidFill>
              <a:srgbClr val="1E1E1E"/>
            </a:solidFill>
            <a:prstDash val="solid"/>
          </a:ln>
        </p:spPr>
      </p:sp>
      <p:sp>
        <p:nvSpPr>
          <p:cNvPr id="10" name="Shape 8"/>
          <p:cNvSpPr/>
          <p:nvPr/>
        </p:nvSpPr>
        <p:spPr>
          <a:xfrm>
            <a:off x="2560320" y="1453896"/>
            <a:ext cx="5029200" cy="201168"/>
          </a:xfrm>
          <a:prstGeom prst="rect">
            <a:avLst/>
          </a:prstGeom>
          <a:solidFill>
            <a:srgbClr val="00D4E8"/>
          </a:solidFill>
          <a:ln w="12700">
            <a:solidFill>
              <a:srgbClr val="00D4E8"/>
            </a:solidFill>
            <a:prstDash val="solid"/>
          </a:ln>
        </p:spPr>
      </p:sp>
      <p:sp>
        <p:nvSpPr>
          <p:cNvPr id="11" name="Text 9"/>
          <p:cNvSpPr/>
          <p:nvPr/>
        </p:nvSpPr>
        <p:spPr>
          <a:xfrm>
            <a:off x="7818120" y="1353312"/>
            <a:ext cx="1097280" cy="347472"/>
          </a:xfrm>
          <a:prstGeom prst="rect">
            <a:avLst/>
          </a:prstGeom>
          <a:noFill/>
          <a:ln/>
        </p:spPr>
        <p:txBody>
          <a:bodyPr wrap="square" lIns="0" tIns="0" rIns="0" bIns="0" rtlCol="0" anchor="ctr"/>
          <a:lstStyle/>
          <a:p>
            <a:pPr algn="r" indent="0" marL="0">
              <a:buNone/>
            </a:pPr>
            <a:r>
              <a:rPr lang="en-US" sz="1400" b="1" dirty="0">
                <a:solidFill>
                  <a:srgbClr val="00D4E8"/>
                </a:solidFill>
                <a:latin typeface="Calibri" pitchFamily="34" charset="0"/>
                <a:ea typeface="Calibri" pitchFamily="34" charset="-122"/>
                <a:cs typeface="Calibri" pitchFamily="34" charset="-120"/>
              </a:rPr>
              <a:t>R1.15B</a:t>
            </a:r>
            <a:endParaRPr lang="en-US" sz="1400" dirty="0"/>
          </a:p>
        </p:txBody>
      </p:sp>
      <p:sp>
        <p:nvSpPr>
          <p:cNvPr id="12" name="Shape 10"/>
          <p:cNvSpPr/>
          <p:nvPr/>
        </p:nvSpPr>
        <p:spPr>
          <a:xfrm>
            <a:off x="320040" y="1975104"/>
            <a:ext cx="621792" cy="493776"/>
          </a:xfrm>
          <a:prstGeom prst="rect">
            <a:avLst/>
          </a:prstGeom>
          <a:solidFill>
            <a:srgbClr val="00B8CC"/>
          </a:solidFill>
          <a:ln w="12700">
            <a:solidFill>
              <a:srgbClr val="00B8CC"/>
            </a:solidFill>
            <a:prstDash val="solid"/>
          </a:ln>
        </p:spPr>
      </p:sp>
      <p:sp>
        <p:nvSpPr>
          <p:cNvPr id="13" name="Text 11"/>
          <p:cNvSpPr/>
          <p:nvPr/>
        </p:nvSpPr>
        <p:spPr>
          <a:xfrm>
            <a:off x="320040" y="1975104"/>
            <a:ext cx="621792" cy="493776"/>
          </a:xfrm>
          <a:prstGeom prst="rect">
            <a:avLst/>
          </a:prstGeom>
          <a:noFill/>
          <a:ln/>
        </p:spPr>
        <p:txBody>
          <a:bodyPr wrap="square" lIns="0" tIns="0" rIns="0" bIns="0" rtlCol="0" anchor="ctr"/>
          <a:lstStyle/>
          <a:p>
            <a:pPr algn="ctr" indent="0" marL="0">
              <a:buNone/>
            </a:pPr>
            <a:r>
              <a:rPr lang="en-US" sz="1500" b="1" dirty="0">
                <a:solidFill>
                  <a:srgbClr val="0A0A0A"/>
                </a:solidFill>
                <a:latin typeface="Arial Black" pitchFamily="34" charset="0"/>
                <a:ea typeface="Arial Black" pitchFamily="34" charset="-122"/>
                <a:cs typeface="Arial Black" pitchFamily="34" charset="-120"/>
              </a:rPr>
              <a:t>CA</a:t>
            </a:r>
            <a:endParaRPr lang="en-US" sz="1500" dirty="0"/>
          </a:p>
        </p:txBody>
      </p:sp>
      <p:sp>
        <p:nvSpPr>
          <p:cNvPr id="14" name="Text 12"/>
          <p:cNvSpPr/>
          <p:nvPr/>
        </p:nvSpPr>
        <p:spPr>
          <a:xfrm>
            <a:off x="1078992" y="2002536"/>
            <a:ext cx="1371600" cy="25603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California</a:t>
            </a:r>
            <a:endParaRPr lang="en-US" sz="1200" dirty="0"/>
          </a:p>
        </p:txBody>
      </p:sp>
      <p:sp>
        <p:nvSpPr>
          <p:cNvPr id="15" name="Text 13"/>
          <p:cNvSpPr/>
          <p:nvPr/>
        </p:nvSpPr>
        <p:spPr>
          <a:xfrm>
            <a:off x="1078992" y="2249424"/>
            <a:ext cx="1371600" cy="182880"/>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72,889 units</a:t>
            </a:r>
            <a:endParaRPr lang="en-US" sz="1000" dirty="0"/>
          </a:p>
        </p:txBody>
      </p:sp>
      <p:sp>
        <p:nvSpPr>
          <p:cNvPr id="16" name="Shape 14"/>
          <p:cNvSpPr/>
          <p:nvPr/>
        </p:nvSpPr>
        <p:spPr>
          <a:xfrm>
            <a:off x="2560320" y="2130552"/>
            <a:ext cx="5029200" cy="201168"/>
          </a:xfrm>
          <a:prstGeom prst="rect">
            <a:avLst/>
          </a:prstGeom>
          <a:solidFill>
            <a:srgbClr val="1E1E1E"/>
          </a:solidFill>
          <a:ln w="12700">
            <a:solidFill>
              <a:srgbClr val="1E1E1E"/>
            </a:solidFill>
            <a:prstDash val="solid"/>
          </a:ln>
        </p:spPr>
      </p:sp>
      <p:sp>
        <p:nvSpPr>
          <p:cNvPr id="17" name="Shape 15"/>
          <p:cNvSpPr/>
          <p:nvPr/>
        </p:nvSpPr>
        <p:spPr>
          <a:xfrm>
            <a:off x="2560320" y="2130552"/>
            <a:ext cx="4425696" cy="201168"/>
          </a:xfrm>
          <a:prstGeom prst="rect">
            <a:avLst/>
          </a:prstGeom>
          <a:solidFill>
            <a:srgbClr val="00B8CC"/>
          </a:solidFill>
          <a:ln w="12700">
            <a:solidFill>
              <a:srgbClr val="00B8CC"/>
            </a:solidFill>
            <a:prstDash val="solid"/>
          </a:ln>
        </p:spPr>
      </p:sp>
      <p:sp>
        <p:nvSpPr>
          <p:cNvPr id="18" name="Text 16"/>
          <p:cNvSpPr/>
          <p:nvPr/>
        </p:nvSpPr>
        <p:spPr>
          <a:xfrm>
            <a:off x="7818120" y="2029968"/>
            <a:ext cx="1097280" cy="347472"/>
          </a:xfrm>
          <a:prstGeom prst="rect">
            <a:avLst/>
          </a:prstGeom>
          <a:noFill/>
          <a:ln/>
        </p:spPr>
        <p:txBody>
          <a:bodyPr wrap="square" lIns="0" tIns="0" rIns="0" bIns="0" rtlCol="0" anchor="ctr"/>
          <a:lstStyle/>
          <a:p>
            <a:pPr algn="r" indent="0" marL="0">
              <a:buNone/>
            </a:pPr>
            <a:r>
              <a:rPr lang="en-US" sz="1400" b="1" dirty="0">
                <a:solidFill>
                  <a:srgbClr val="00B8CC"/>
                </a:solidFill>
                <a:latin typeface="Calibri" pitchFamily="34" charset="0"/>
                <a:ea typeface="Calibri" pitchFamily="34" charset="-122"/>
                <a:cs typeface="Calibri" pitchFamily="34" charset="-120"/>
              </a:rPr>
              <a:t>R1.06B</a:t>
            </a:r>
            <a:endParaRPr lang="en-US" sz="1400" dirty="0"/>
          </a:p>
        </p:txBody>
      </p:sp>
      <p:sp>
        <p:nvSpPr>
          <p:cNvPr id="19" name="Shape 17"/>
          <p:cNvSpPr/>
          <p:nvPr/>
        </p:nvSpPr>
        <p:spPr>
          <a:xfrm>
            <a:off x="320040" y="2651760"/>
            <a:ext cx="621792" cy="493776"/>
          </a:xfrm>
          <a:prstGeom prst="rect">
            <a:avLst/>
          </a:prstGeom>
          <a:solidFill>
            <a:srgbClr val="0096A8"/>
          </a:solidFill>
          <a:ln w="12700">
            <a:solidFill>
              <a:srgbClr val="0096A8"/>
            </a:solidFill>
            <a:prstDash val="solid"/>
          </a:ln>
        </p:spPr>
      </p:sp>
      <p:sp>
        <p:nvSpPr>
          <p:cNvPr id="20" name="Text 18"/>
          <p:cNvSpPr/>
          <p:nvPr/>
        </p:nvSpPr>
        <p:spPr>
          <a:xfrm>
            <a:off x="320040" y="2651760"/>
            <a:ext cx="621792" cy="493776"/>
          </a:xfrm>
          <a:prstGeom prst="rect">
            <a:avLst/>
          </a:prstGeom>
          <a:noFill/>
          <a:ln/>
        </p:spPr>
        <p:txBody>
          <a:bodyPr wrap="square" lIns="0" tIns="0" rIns="0" bIns="0" rtlCol="0" anchor="ctr"/>
          <a:lstStyle/>
          <a:p>
            <a:pPr algn="ctr" indent="0" marL="0">
              <a:buNone/>
            </a:pPr>
            <a:r>
              <a:rPr lang="en-US" sz="1500" b="1" dirty="0">
                <a:solidFill>
                  <a:srgbClr val="0A0A0A"/>
                </a:solidFill>
                <a:latin typeface="Arial Black" pitchFamily="34" charset="0"/>
                <a:ea typeface="Arial Black" pitchFamily="34" charset="-122"/>
                <a:cs typeface="Arial Black" pitchFamily="34" charset="-120"/>
              </a:rPr>
              <a:t>PA</a:t>
            </a:r>
            <a:endParaRPr lang="en-US" sz="1500" dirty="0"/>
          </a:p>
        </p:txBody>
      </p:sp>
      <p:sp>
        <p:nvSpPr>
          <p:cNvPr id="21" name="Text 19"/>
          <p:cNvSpPr/>
          <p:nvPr/>
        </p:nvSpPr>
        <p:spPr>
          <a:xfrm>
            <a:off x="1078992" y="2679192"/>
            <a:ext cx="1371600" cy="25603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Pennsylvania</a:t>
            </a:r>
            <a:endParaRPr lang="en-US" sz="1200" dirty="0"/>
          </a:p>
        </p:txBody>
      </p:sp>
      <p:sp>
        <p:nvSpPr>
          <p:cNvPr id="22" name="Text 20"/>
          <p:cNvSpPr/>
          <p:nvPr/>
        </p:nvSpPr>
        <p:spPr>
          <a:xfrm>
            <a:off x="1078992" y="2926080"/>
            <a:ext cx="1371600" cy="182880"/>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53,773 units</a:t>
            </a:r>
            <a:endParaRPr lang="en-US" sz="1000" dirty="0"/>
          </a:p>
        </p:txBody>
      </p:sp>
      <p:sp>
        <p:nvSpPr>
          <p:cNvPr id="23" name="Shape 21"/>
          <p:cNvSpPr/>
          <p:nvPr/>
        </p:nvSpPr>
        <p:spPr>
          <a:xfrm>
            <a:off x="2560320" y="2807208"/>
            <a:ext cx="5029200" cy="201168"/>
          </a:xfrm>
          <a:prstGeom prst="rect">
            <a:avLst/>
          </a:prstGeom>
          <a:solidFill>
            <a:srgbClr val="1E1E1E"/>
          </a:solidFill>
          <a:ln w="12700">
            <a:solidFill>
              <a:srgbClr val="1E1E1E"/>
            </a:solidFill>
            <a:prstDash val="solid"/>
          </a:ln>
        </p:spPr>
      </p:sp>
      <p:sp>
        <p:nvSpPr>
          <p:cNvPr id="24" name="Shape 22"/>
          <p:cNvSpPr/>
          <p:nvPr/>
        </p:nvSpPr>
        <p:spPr>
          <a:xfrm>
            <a:off x="2560320" y="2807208"/>
            <a:ext cx="3268980" cy="201168"/>
          </a:xfrm>
          <a:prstGeom prst="rect">
            <a:avLst/>
          </a:prstGeom>
          <a:solidFill>
            <a:srgbClr val="0096A8"/>
          </a:solidFill>
          <a:ln w="12700">
            <a:solidFill>
              <a:srgbClr val="0096A8"/>
            </a:solidFill>
            <a:prstDash val="solid"/>
          </a:ln>
        </p:spPr>
      </p:sp>
      <p:sp>
        <p:nvSpPr>
          <p:cNvPr id="25" name="Text 23"/>
          <p:cNvSpPr/>
          <p:nvPr/>
        </p:nvSpPr>
        <p:spPr>
          <a:xfrm>
            <a:off x="7818120" y="2706624"/>
            <a:ext cx="1097280" cy="347472"/>
          </a:xfrm>
          <a:prstGeom prst="rect">
            <a:avLst/>
          </a:prstGeom>
          <a:noFill/>
          <a:ln/>
        </p:spPr>
        <p:txBody>
          <a:bodyPr wrap="square" lIns="0" tIns="0" rIns="0" bIns="0" rtlCol="0" anchor="ctr"/>
          <a:lstStyle/>
          <a:p>
            <a:pPr algn="r" indent="0" marL="0">
              <a:buNone/>
            </a:pPr>
            <a:r>
              <a:rPr lang="en-US" sz="1400" b="1" dirty="0">
                <a:solidFill>
                  <a:srgbClr val="0096A8"/>
                </a:solidFill>
                <a:latin typeface="Calibri" pitchFamily="34" charset="0"/>
                <a:ea typeface="Calibri" pitchFamily="34" charset="-122"/>
                <a:cs typeface="Calibri" pitchFamily="34" charset="-120"/>
              </a:rPr>
              <a:t>R861M</a:t>
            </a:r>
            <a:endParaRPr lang="en-US" sz="1400" dirty="0"/>
          </a:p>
        </p:txBody>
      </p:sp>
      <p:sp>
        <p:nvSpPr>
          <p:cNvPr id="26" name="Shape 24"/>
          <p:cNvSpPr/>
          <p:nvPr/>
        </p:nvSpPr>
        <p:spPr>
          <a:xfrm>
            <a:off x="320040" y="3328416"/>
            <a:ext cx="621792" cy="493776"/>
          </a:xfrm>
          <a:prstGeom prst="rect">
            <a:avLst/>
          </a:prstGeom>
          <a:solidFill>
            <a:srgbClr val="007688"/>
          </a:solidFill>
          <a:ln w="12700">
            <a:solidFill>
              <a:srgbClr val="007688"/>
            </a:solidFill>
            <a:prstDash val="solid"/>
          </a:ln>
        </p:spPr>
      </p:sp>
      <p:sp>
        <p:nvSpPr>
          <p:cNvPr id="27" name="Text 25"/>
          <p:cNvSpPr/>
          <p:nvPr/>
        </p:nvSpPr>
        <p:spPr>
          <a:xfrm>
            <a:off x="320040" y="3328416"/>
            <a:ext cx="621792" cy="493776"/>
          </a:xfrm>
          <a:prstGeom prst="rect">
            <a:avLst/>
          </a:prstGeom>
          <a:noFill/>
          <a:ln/>
        </p:spPr>
        <p:txBody>
          <a:bodyPr wrap="square" lIns="0" tIns="0" rIns="0" bIns="0" rtlCol="0" anchor="ctr"/>
          <a:lstStyle/>
          <a:p>
            <a:pPr algn="ctr" indent="0" marL="0">
              <a:buNone/>
            </a:pPr>
            <a:r>
              <a:rPr lang="en-US" sz="1500" b="1" dirty="0">
                <a:solidFill>
                  <a:srgbClr val="0A0A0A"/>
                </a:solidFill>
                <a:latin typeface="Arial Black" pitchFamily="34" charset="0"/>
                <a:ea typeface="Arial Black" pitchFamily="34" charset="-122"/>
                <a:cs typeface="Arial Black" pitchFamily="34" charset="-120"/>
              </a:rPr>
              <a:t>TX</a:t>
            </a:r>
            <a:endParaRPr lang="en-US" sz="1500" dirty="0"/>
          </a:p>
        </p:txBody>
      </p:sp>
      <p:sp>
        <p:nvSpPr>
          <p:cNvPr id="28" name="Text 26"/>
          <p:cNvSpPr/>
          <p:nvPr/>
        </p:nvSpPr>
        <p:spPr>
          <a:xfrm>
            <a:off x="1078992" y="3355848"/>
            <a:ext cx="1371600" cy="25603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Texas</a:t>
            </a:r>
            <a:endParaRPr lang="en-US" sz="1200" dirty="0"/>
          </a:p>
        </p:txBody>
      </p:sp>
      <p:sp>
        <p:nvSpPr>
          <p:cNvPr id="29" name="Text 27"/>
          <p:cNvSpPr/>
          <p:nvPr/>
        </p:nvSpPr>
        <p:spPr>
          <a:xfrm>
            <a:off x="1078992" y="3602736"/>
            <a:ext cx="1371600" cy="182880"/>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45,857 units</a:t>
            </a:r>
            <a:endParaRPr lang="en-US" sz="1000" dirty="0"/>
          </a:p>
        </p:txBody>
      </p:sp>
      <p:sp>
        <p:nvSpPr>
          <p:cNvPr id="30" name="Shape 28"/>
          <p:cNvSpPr/>
          <p:nvPr/>
        </p:nvSpPr>
        <p:spPr>
          <a:xfrm>
            <a:off x="2560320" y="3483864"/>
            <a:ext cx="5029200" cy="201168"/>
          </a:xfrm>
          <a:prstGeom prst="rect">
            <a:avLst/>
          </a:prstGeom>
          <a:solidFill>
            <a:srgbClr val="1E1E1E"/>
          </a:solidFill>
          <a:ln w="12700">
            <a:solidFill>
              <a:srgbClr val="1E1E1E"/>
            </a:solidFill>
            <a:prstDash val="solid"/>
          </a:ln>
        </p:spPr>
      </p:sp>
      <p:sp>
        <p:nvSpPr>
          <p:cNvPr id="31" name="Shape 29"/>
          <p:cNvSpPr/>
          <p:nvPr/>
        </p:nvSpPr>
        <p:spPr>
          <a:xfrm>
            <a:off x="2560320" y="3483864"/>
            <a:ext cx="2766060" cy="201168"/>
          </a:xfrm>
          <a:prstGeom prst="rect">
            <a:avLst/>
          </a:prstGeom>
          <a:solidFill>
            <a:srgbClr val="007688"/>
          </a:solidFill>
          <a:ln w="12700">
            <a:solidFill>
              <a:srgbClr val="007688"/>
            </a:solidFill>
            <a:prstDash val="solid"/>
          </a:ln>
        </p:spPr>
      </p:sp>
      <p:sp>
        <p:nvSpPr>
          <p:cNvPr id="32" name="Text 30"/>
          <p:cNvSpPr/>
          <p:nvPr/>
        </p:nvSpPr>
        <p:spPr>
          <a:xfrm>
            <a:off x="7818120" y="3383280"/>
            <a:ext cx="1097280" cy="347472"/>
          </a:xfrm>
          <a:prstGeom prst="rect">
            <a:avLst/>
          </a:prstGeom>
          <a:noFill/>
          <a:ln/>
        </p:spPr>
        <p:txBody>
          <a:bodyPr wrap="square" lIns="0" tIns="0" rIns="0" bIns="0" rtlCol="0" anchor="ctr"/>
          <a:lstStyle/>
          <a:p>
            <a:pPr algn="r" indent="0" marL="0">
              <a:buNone/>
            </a:pPr>
            <a:r>
              <a:rPr lang="en-US" sz="1400" b="1" dirty="0">
                <a:solidFill>
                  <a:srgbClr val="007688"/>
                </a:solidFill>
                <a:latin typeface="Calibri" pitchFamily="34" charset="0"/>
                <a:ea typeface="Calibri" pitchFamily="34" charset="-122"/>
                <a:cs typeface="Calibri" pitchFamily="34" charset="-120"/>
              </a:rPr>
              <a:t>R606M</a:t>
            </a:r>
            <a:endParaRPr lang="en-US" sz="1400" dirty="0"/>
          </a:p>
        </p:txBody>
      </p:sp>
      <p:sp>
        <p:nvSpPr>
          <p:cNvPr id="33" name="Shape 31"/>
          <p:cNvSpPr/>
          <p:nvPr/>
        </p:nvSpPr>
        <p:spPr>
          <a:xfrm>
            <a:off x="320040" y="4005072"/>
            <a:ext cx="621792" cy="493776"/>
          </a:xfrm>
          <a:prstGeom prst="rect">
            <a:avLst/>
          </a:prstGeom>
          <a:solidFill>
            <a:srgbClr val="005668"/>
          </a:solidFill>
          <a:ln w="12700">
            <a:solidFill>
              <a:srgbClr val="005668"/>
            </a:solidFill>
            <a:prstDash val="solid"/>
          </a:ln>
        </p:spPr>
      </p:sp>
      <p:sp>
        <p:nvSpPr>
          <p:cNvPr id="34" name="Text 32"/>
          <p:cNvSpPr/>
          <p:nvPr/>
        </p:nvSpPr>
        <p:spPr>
          <a:xfrm>
            <a:off x="320040" y="4005072"/>
            <a:ext cx="621792" cy="493776"/>
          </a:xfrm>
          <a:prstGeom prst="rect">
            <a:avLst/>
          </a:prstGeom>
          <a:noFill/>
          <a:ln/>
        </p:spPr>
        <p:txBody>
          <a:bodyPr wrap="square" lIns="0" tIns="0" rIns="0" bIns="0" rtlCol="0" anchor="ctr"/>
          <a:lstStyle/>
          <a:p>
            <a:pPr algn="ctr" indent="0" marL="0">
              <a:buNone/>
            </a:pPr>
            <a:r>
              <a:rPr lang="en-US" sz="1500" b="1" dirty="0">
                <a:solidFill>
                  <a:srgbClr val="0A0A0A"/>
                </a:solidFill>
                <a:latin typeface="Arial Black" pitchFamily="34" charset="0"/>
                <a:ea typeface="Arial Black" pitchFamily="34" charset="-122"/>
                <a:cs typeface="Arial Black" pitchFamily="34" charset="-120"/>
              </a:rPr>
              <a:t>GA</a:t>
            </a:r>
            <a:endParaRPr lang="en-US" sz="1500" dirty="0"/>
          </a:p>
        </p:txBody>
      </p:sp>
      <p:sp>
        <p:nvSpPr>
          <p:cNvPr id="35" name="Text 33"/>
          <p:cNvSpPr/>
          <p:nvPr/>
        </p:nvSpPr>
        <p:spPr>
          <a:xfrm>
            <a:off x="1078992" y="4032504"/>
            <a:ext cx="1371600" cy="25603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Georgia</a:t>
            </a:r>
            <a:endParaRPr lang="en-US" sz="1200" dirty="0"/>
          </a:p>
        </p:txBody>
      </p:sp>
      <p:sp>
        <p:nvSpPr>
          <p:cNvPr id="36" name="Text 34"/>
          <p:cNvSpPr/>
          <p:nvPr/>
        </p:nvSpPr>
        <p:spPr>
          <a:xfrm>
            <a:off x="1078992" y="4279392"/>
            <a:ext cx="1371600" cy="182880"/>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34,699 units</a:t>
            </a:r>
            <a:endParaRPr lang="en-US" sz="1000" dirty="0"/>
          </a:p>
        </p:txBody>
      </p:sp>
      <p:sp>
        <p:nvSpPr>
          <p:cNvPr id="37" name="Shape 35"/>
          <p:cNvSpPr/>
          <p:nvPr/>
        </p:nvSpPr>
        <p:spPr>
          <a:xfrm>
            <a:off x="2560320" y="4160520"/>
            <a:ext cx="5029200" cy="201168"/>
          </a:xfrm>
          <a:prstGeom prst="rect">
            <a:avLst/>
          </a:prstGeom>
          <a:solidFill>
            <a:srgbClr val="1E1E1E"/>
          </a:solidFill>
          <a:ln w="12700">
            <a:solidFill>
              <a:srgbClr val="1E1E1E"/>
            </a:solidFill>
            <a:prstDash val="solid"/>
          </a:ln>
        </p:spPr>
      </p:sp>
      <p:sp>
        <p:nvSpPr>
          <p:cNvPr id="38" name="Shape 36"/>
          <p:cNvSpPr/>
          <p:nvPr/>
        </p:nvSpPr>
        <p:spPr>
          <a:xfrm>
            <a:off x="2560320" y="4160520"/>
            <a:ext cx="2112264" cy="201168"/>
          </a:xfrm>
          <a:prstGeom prst="rect">
            <a:avLst/>
          </a:prstGeom>
          <a:solidFill>
            <a:srgbClr val="005668"/>
          </a:solidFill>
          <a:ln w="12700">
            <a:solidFill>
              <a:srgbClr val="005668"/>
            </a:solidFill>
            <a:prstDash val="solid"/>
          </a:ln>
        </p:spPr>
      </p:sp>
      <p:sp>
        <p:nvSpPr>
          <p:cNvPr id="39" name="Text 37"/>
          <p:cNvSpPr/>
          <p:nvPr/>
        </p:nvSpPr>
        <p:spPr>
          <a:xfrm>
            <a:off x="7818120" y="4059936"/>
            <a:ext cx="1097280" cy="347472"/>
          </a:xfrm>
          <a:prstGeom prst="rect">
            <a:avLst/>
          </a:prstGeom>
          <a:noFill/>
          <a:ln/>
        </p:spPr>
        <p:txBody>
          <a:bodyPr wrap="square" lIns="0" tIns="0" rIns="0" bIns="0" rtlCol="0" anchor="ctr"/>
          <a:lstStyle/>
          <a:p>
            <a:pPr algn="r" indent="0" marL="0">
              <a:buNone/>
            </a:pPr>
            <a:r>
              <a:rPr lang="en-US" sz="1400" b="1" dirty="0">
                <a:solidFill>
                  <a:srgbClr val="005668"/>
                </a:solidFill>
                <a:latin typeface="Calibri" pitchFamily="34" charset="0"/>
                <a:ea typeface="Calibri" pitchFamily="34" charset="-122"/>
                <a:cs typeface="Calibri" pitchFamily="34" charset="-120"/>
              </a:rPr>
              <a:t>R449M</a:t>
            </a:r>
            <a:endParaRPr lang="en-US" sz="1400" dirty="0"/>
          </a:p>
        </p:txBody>
      </p:sp>
      <p:sp>
        <p:nvSpPr>
          <p:cNvPr id="40" name="Shape 38"/>
          <p:cNvSpPr/>
          <p:nvPr/>
        </p:nvSpPr>
        <p:spPr>
          <a:xfrm>
            <a:off x="320040" y="4617720"/>
            <a:ext cx="8503920" cy="411480"/>
          </a:xfrm>
          <a:prstGeom prst="rect">
            <a:avLst/>
          </a:prstGeom>
          <a:solidFill>
            <a:srgbClr val="1E1E1E"/>
          </a:solidFill>
          <a:ln w="12700">
            <a:solidFill>
              <a:srgbClr val="00D4E8"/>
            </a:solidFill>
            <a:prstDash val="solid"/>
          </a:ln>
        </p:spPr>
      </p:sp>
      <p:sp>
        <p:nvSpPr>
          <p:cNvPr id="41" name="Text 39"/>
          <p:cNvSpPr/>
          <p:nvPr/>
        </p:nvSpPr>
        <p:spPr>
          <a:xfrm>
            <a:off x="457200" y="4645152"/>
            <a:ext cx="8229600" cy="329184"/>
          </a:xfrm>
          <a:prstGeom prst="rect">
            <a:avLst/>
          </a:prstGeom>
          <a:noFill/>
          <a:ln/>
        </p:spPr>
        <p:txBody>
          <a:bodyPr wrap="square" lIns="0" tIns="0" rIns="0" bIns="0" rtlCol="0" anchor="ctr"/>
          <a:lstStyle/>
          <a:p>
            <a:pPr algn="l" indent="0" marL="0">
              <a:buNone/>
            </a:pPr>
            <a:r>
              <a:rPr lang="en-US" sz="1150" b="1" dirty="0">
                <a:solidFill>
                  <a:srgbClr val="00D4E8"/>
                </a:solidFill>
                <a:latin typeface="Calibri" pitchFamily="34" charset="0"/>
                <a:ea typeface="Calibri" pitchFamily="34" charset="-122"/>
                <a:cs typeface="Calibri" pitchFamily="34" charset="-120"/>
              </a:rPr>
              <a:t>💡  FL leads with 28.6% of units sold &amp; the highest revenue. Top 5 states generate almost R5 Billion alone.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0A0A"/>
          </a:solidFill>
          <a:ln w="12700">
            <a:solidFill>
              <a:srgbClr val="0A0A0A"/>
            </a:solidFill>
            <a:prstDash val="solid"/>
          </a:ln>
        </p:spPr>
      </p:sp>
      <p:sp>
        <p:nvSpPr>
          <p:cNvPr id="3" name="Shape 1"/>
          <p:cNvSpPr/>
          <p:nvPr/>
        </p:nvSpPr>
        <p:spPr>
          <a:xfrm>
            <a:off x="0" y="932688"/>
            <a:ext cx="9144000" cy="64008"/>
          </a:xfrm>
          <a:prstGeom prst="rect">
            <a:avLst/>
          </a:prstGeom>
          <a:solidFill>
            <a:srgbClr val="00D4E8"/>
          </a:solidFill>
          <a:ln w="12700">
            <a:solidFill>
              <a:srgbClr val="00D4E8"/>
            </a:solidFill>
            <a:prstDash val="solid"/>
          </a:ln>
        </p:spPr>
      </p:sp>
      <p:sp>
        <p:nvSpPr>
          <p:cNvPr id="4" name="Text 2"/>
          <p:cNvSpPr/>
          <p:nvPr/>
        </p:nvSpPr>
        <p:spPr>
          <a:xfrm>
            <a:off x="457200" y="137160"/>
            <a:ext cx="8229600" cy="713232"/>
          </a:xfrm>
          <a:prstGeom prst="rect">
            <a:avLst/>
          </a:prstGeom>
          <a:noFill/>
          <a:ln/>
        </p:spPr>
        <p:txBody>
          <a:bodyPr wrap="square" lIns="0" tIns="0" rIns="0" bIns="0" rtlCol="0" anchor="ctr"/>
          <a:lstStyle/>
          <a:p>
            <a:pPr algn="l" indent="0" marL="0">
              <a:buNone/>
            </a:pPr>
            <a:r>
              <a:rPr lang="en-US" sz="2600" b="1" dirty="0">
                <a:solidFill>
                  <a:srgbClr val="FFFFFF"/>
                </a:solidFill>
                <a:latin typeface="Arial Black" pitchFamily="34" charset="0"/>
                <a:ea typeface="Arial Black" pitchFamily="34" charset="-122"/>
                <a:cs typeface="Arial Black" pitchFamily="34" charset="-120"/>
              </a:rPr>
              <a:t>MILEAGE — PRICE &amp; REVENUE IMPACT</a:t>
            </a:r>
            <a:endParaRPr lang="en-US" sz="2600" dirty="0"/>
          </a:p>
        </p:txBody>
      </p:sp>
      <p:graphicFrame>
        <p:nvGraphicFramePr>
          <p:cNvPr id="5" name="Chart 0" descr=""/>
          <p:cNvGraphicFramePr/>
          <p:nvPr/>
        </p:nvGraphicFramePr>
        <p:xfrm>
          <a:off x="274320" y="1115568"/>
          <a:ext cx="5029200" cy="26974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5394960" y="1115568"/>
          <a:ext cx="3474720" cy="26974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274320" y="4023360"/>
            <a:ext cx="2834640" cy="896112"/>
          </a:xfrm>
          <a:prstGeom prst="rect">
            <a:avLst/>
          </a:prstGeom>
          <a:solidFill>
            <a:srgbClr val="FFFFFF"/>
          </a:solidFill>
          <a:ln w="12700">
            <a:solidFill>
              <a:srgbClr val="E2E8F0"/>
            </a:solidFill>
            <a:prstDash val="solid"/>
          </a:ln>
          <a:effectLst>
            <a:outerShdw sx="100000" sy="100000" kx="0" ky="0" algn="bl" rotWithShape="0" blurRad="76200" dist="25400" dir="8100000">
              <a:srgbClr val="000000">
                <a:alpha val="8000"/>
              </a:srgbClr>
            </a:outerShdw>
          </a:effectLst>
        </p:spPr>
      </p:sp>
      <p:sp>
        <p:nvSpPr>
          <p:cNvPr id="8" name="Shape 4"/>
          <p:cNvSpPr/>
          <p:nvPr/>
        </p:nvSpPr>
        <p:spPr>
          <a:xfrm>
            <a:off x="274320" y="4023360"/>
            <a:ext cx="2834640" cy="54864"/>
          </a:xfrm>
          <a:prstGeom prst="rect">
            <a:avLst/>
          </a:prstGeom>
          <a:solidFill>
            <a:srgbClr val="10B981"/>
          </a:solidFill>
          <a:ln w="12700">
            <a:solidFill>
              <a:srgbClr val="10B981"/>
            </a:solidFill>
            <a:prstDash val="solid"/>
          </a:ln>
        </p:spPr>
      </p:sp>
      <p:sp>
        <p:nvSpPr>
          <p:cNvPr id="9" name="Text 5"/>
          <p:cNvSpPr/>
          <p:nvPr/>
        </p:nvSpPr>
        <p:spPr>
          <a:xfrm>
            <a:off x="384048" y="4114800"/>
            <a:ext cx="2651760" cy="685800"/>
          </a:xfrm>
          <a:prstGeom prst="rect">
            <a:avLst/>
          </a:prstGeom>
          <a:noFill/>
          <a:ln/>
        </p:spPr>
        <p:txBody>
          <a:bodyPr wrap="square" lIns="0" tIns="0" rIns="0" bIns="0" rtlCol="0" anchor="ctr"/>
          <a:lstStyle/>
          <a:p>
            <a:pPr algn="l" indent="0" marL="0">
              <a:buNone/>
            </a:pPr>
            <a:r>
              <a:rPr lang="en-US" sz="1050" dirty="0">
                <a:solidFill>
                  <a:srgbClr val="0A0A0A"/>
                </a:solidFill>
                <a:latin typeface="Calibri" pitchFamily="34" charset="0"/>
                <a:ea typeface="Calibri" pitchFamily="34" charset="-122"/>
                <a:cs typeface="Calibri" pitchFamily="34" charset="-120"/>
              </a:rPr>
              <a:t>Low mileage vehicles command 3.3× higher avg price than high mileage</a:t>
            </a:r>
            <a:endParaRPr lang="en-US" sz="1050" dirty="0"/>
          </a:p>
        </p:txBody>
      </p:sp>
      <p:sp>
        <p:nvSpPr>
          <p:cNvPr id="10" name="Shape 6"/>
          <p:cNvSpPr/>
          <p:nvPr/>
        </p:nvSpPr>
        <p:spPr>
          <a:xfrm>
            <a:off x="3227832" y="4023360"/>
            <a:ext cx="2834640" cy="896112"/>
          </a:xfrm>
          <a:prstGeom prst="rect">
            <a:avLst/>
          </a:prstGeom>
          <a:solidFill>
            <a:srgbClr val="FFFFFF"/>
          </a:solidFill>
          <a:ln w="12700">
            <a:solidFill>
              <a:srgbClr val="E2E8F0"/>
            </a:solidFill>
            <a:prstDash val="solid"/>
          </a:ln>
          <a:effectLst>
            <a:outerShdw sx="100000" sy="100000" kx="0" ky="0" algn="bl" rotWithShape="0" blurRad="76200" dist="25400" dir="8100000">
              <a:srgbClr val="000000">
                <a:alpha val="8000"/>
              </a:srgbClr>
            </a:outerShdw>
          </a:effectLst>
        </p:spPr>
      </p:sp>
      <p:sp>
        <p:nvSpPr>
          <p:cNvPr id="11" name="Shape 7"/>
          <p:cNvSpPr/>
          <p:nvPr/>
        </p:nvSpPr>
        <p:spPr>
          <a:xfrm>
            <a:off x="3227832" y="4023360"/>
            <a:ext cx="2834640" cy="54864"/>
          </a:xfrm>
          <a:prstGeom prst="rect">
            <a:avLst/>
          </a:prstGeom>
          <a:solidFill>
            <a:srgbClr val="F59E0B"/>
          </a:solidFill>
          <a:ln w="12700">
            <a:solidFill>
              <a:srgbClr val="F59E0B"/>
            </a:solidFill>
            <a:prstDash val="solid"/>
          </a:ln>
        </p:spPr>
      </p:sp>
      <p:sp>
        <p:nvSpPr>
          <p:cNvPr id="12" name="Text 8"/>
          <p:cNvSpPr/>
          <p:nvPr/>
        </p:nvSpPr>
        <p:spPr>
          <a:xfrm>
            <a:off x="3337560" y="4114800"/>
            <a:ext cx="2651760" cy="685800"/>
          </a:xfrm>
          <a:prstGeom prst="rect">
            <a:avLst/>
          </a:prstGeom>
          <a:noFill/>
          <a:ln/>
        </p:spPr>
        <p:txBody>
          <a:bodyPr wrap="square" lIns="0" tIns="0" rIns="0" bIns="0" rtlCol="0" anchor="ctr"/>
          <a:lstStyle/>
          <a:p>
            <a:pPr algn="l" indent="0" marL="0">
              <a:buNone/>
            </a:pPr>
            <a:r>
              <a:rPr lang="en-US" sz="1050" dirty="0">
                <a:solidFill>
                  <a:srgbClr val="0A0A0A"/>
                </a:solidFill>
                <a:latin typeface="Calibri" pitchFamily="34" charset="0"/>
                <a:ea typeface="Calibri" pitchFamily="34" charset="-122"/>
                <a:cs typeface="Calibri" pitchFamily="34" charset="-120"/>
              </a:rPr>
              <a:t>Medium mileage is the most purchased — 44% of total revenue contributed</a:t>
            </a:r>
            <a:endParaRPr lang="en-US" sz="1050" dirty="0"/>
          </a:p>
        </p:txBody>
      </p:sp>
      <p:sp>
        <p:nvSpPr>
          <p:cNvPr id="13" name="Shape 9"/>
          <p:cNvSpPr/>
          <p:nvPr/>
        </p:nvSpPr>
        <p:spPr>
          <a:xfrm>
            <a:off x="6181344" y="4023360"/>
            <a:ext cx="2834640" cy="896112"/>
          </a:xfrm>
          <a:prstGeom prst="rect">
            <a:avLst/>
          </a:prstGeom>
          <a:solidFill>
            <a:srgbClr val="FFFFFF"/>
          </a:solidFill>
          <a:ln w="12700">
            <a:solidFill>
              <a:srgbClr val="E2E8F0"/>
            </a:solidFill>
            <a:prstDash val="solid"/>
          </a:ln>
          <a:effectLst>
            <a:outerShdw sx="100000" sy="100000" kx="0" ky="0" algn="bl" rotWithShape="0" blurRad="76200" dist="25400" dir="8100000">
              <a:srgbClr val="000000">
                <a:alpha val="8000"/>
              </a:srgbClr>
            </a:outerShdw>
          </a:effectLst>
        </p:spPr>
      </p:sp>
      <p:sp>
        <p:nvSpPr>
          <p:cNvPr id="14" name="Shape 10"/>
          <p:cNvSpPr/>
          <p:nvPr/>
        </p:nvSpPr>
        <p:spPr>
          <a:xfrm>
            <a:off x="6181344" y="4023360"/>
            <a:ext cx="2834640" cy="54864"/>
          </a:xfrm>
          <a:prstGeom prst="rect">
            <a:avLst/>
          </a:prstGeom>
          <a:solidFill>
            <a:srgbClr val="EF4444"/>
          </a:solidFill>
          <a:ln w="12700">
            <a:solidFill>
              <a:srgbClr val="EF4444"/>
            </a:solidFill>
            <a:prstDash val="solid"/>
          </a:ln>
        </p:spPr>
      </p:sp>
      <p:sp>
        <p:nvSpPr>
          <p:cNvPr id="15" name="Text 11"/>
          <p:cNvSpPr/>
          <p:nvPr/>
        </p:nvSpPr>
        <p:spPr>
          <a:xfrm>
            <a:off x="6291072" y="4114800"/>
            <a:ext cx="2651760" cy="685800"/>
          </a:xfrm>
          <a:prstGeom prst="rect">
            <a:avLst/>
          </a:prstGeom>
          <a:noFill/>
          <a:ln/>
        </p:spPr>
        <p:txBody>
          <a:bodyPr wrap="square" lIns="0" tIns="0" rIns="0" bIns="0" rtlCol="0" anchor="ctr"/>
          <a:lstStyle/>
          <a:p>
            <a:pPr algn="l" indent="0" marL="0">
              <a:buNone/>
            </a:pPr>
            <a:r>
              <a:rPr lang="en-US" sz="1050" dirty="0">
                <a:solidFill>
                  <a:srgbClr val="0A0A0A"/>
                </a:solidFill>
                <a:latin typeface="Calibri" pitchFamily="34" charset="0"/>
                <a:ea typeface="Calibri" pitchFamily="34" charset="-122"/>
                <a:cs typeface="Calibri" pitchFamily="34" charset="-120"/>
              </a:rPr>
              <a:t>High mileage vehicles contribute only 15% — lowest consumer preference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D4E8"/>
          </a:solidFill>
          <a:ln w="12700">
            <a:solidFill>
              <a:srgbClr val="00D4E8"/>
            </a:solidFill>
            <a:prstDash val="solid"/>
          </a:ln>
        </p:spPr>
      </p:sp>
      <p:sp>
        <p:nvSpPr>
          <p:cNvPr id="3" name="Text 1"/>
          <p:cNvSpPr/>
          <p:nvPr/>
        </p:nvSpPr>
        <p:spPr>
          <a:xfrm>
            <a:off x="457200" y="182880"/>
            <a:ext cx="8229600" cy="621792"/>
          </a:xfrm>
          <a:prstGeom prst="rect">
            <a:avLst/>
          </a:prstGeom>
          <a:noFill/>
          <a:ln/>
        </p:spPr>
        <p:txBody>
          <a:bodyPr wrap="square" lIns="0" tIns="0" rIns="0" bIns="0" rtlCol="0" anchor="ctr"/>
          <a:lstStyle/>
          <a:p>
            <a:pPr algn="l" indent="0" marL="0">
              <a:buNone/>
            </a:pPr>
            <a:r>
              <a:rPr lang="en-US" sz="2600" b="1" dirty="0">
                <a:solidFill>
                  <a:srgbClr val="FFFFFF"/>
                </a:solidFill>
                <a:latin typeface="Arial Black" pitchFamily="34" charset="0"/>
                <a:ea typeface="Arial Black" pitchFamily="34" charset="-122"/>
                <a:cs typeface="Arial Black" pitchFamily="34" charset="-120"/>
              </a:rPr>
              <a:t>PRICING TRENDS &amp; TRANSMISSION PREFERENCE</a:t>
            </a:r>
            <a:endParaRPr lang="en-US" sz="2600" dirty="0"/>
          </a:p>
        </p:txBody>
      </p:sp>
      <p:graphicFrame>
        <p:nvGraphicFramePr>
          <p:cNvPr id="4" name="Chart 0" descr=""/>
          <p:cNvGraphicFramePr/>
          <p:nvPr/>
        </p:nvGraphicFramePr>
        <p:xfrm>
          <a:off x="274320" y="1005840"/>
          <a:ext cx="5029200" cy="27432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5486400" y="1005840"/>
          <a:ext cx="3383280" cy="274320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274320" y="3950208"/>
            <a:ext cx="8595360" cy="457200"/>
          </a:xfrm>
          <a:prstGeom prst="rect">
            <a:avLst/>
          </a:prstGeom>
          <a:solidFill>
            <a:srgbClr val="1E1E1E"/>
          </a:solidFill>
          <a:ln w="12700">
            <a:solidFill>
              <a:srgbClr val="00D4E8"/>
            </a:solidFill>
            <a:prstDash val="solid"/>
          </a:ln>
        </p:spPr>
      </p:sp>
      <p:sp>
        <p:nvSpPr>
          <p:cNvPr id="7" name="Shape 3"/>
          <p:cNvSpPr/>
          <p:nvPr/>
        </p:nvSpPr>
        <p:spPr>
          <a:xfrm>
            <a:off x="274320" y="3950208"/>
            <a:ext cx="54864" cy="457200"/>
          </a:xfrm>
          <a:prstGeom prst="rect">
            <a:avLst/>
          </a:prstGeom>
          <a:solidFill>
            <a:srgbClr val="00D4E8"/>
          </a:solidFill>
          <a:ln w="12700">
            <a:solidFill>
              <a:srgbClr val="00D4E8"/>
            </a:solidFill>
            <a:prstDash val="solid"/>
          </a:ln>
        </p:spPr>
      </p:sp>
      <p:sp>
        <p:nvSpPr>
          <p:cNvPr id="8" name="Text 4"/>
          <p:cNvSpPr/>
          <p:nvPr/>
        </p:nvSpPr>
        <p:spPr>
          <a:xfrm>
            <a:off x="457200" y="4014216"/>
            <a:ext cx="8229600" cy="310896"/>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  Selling prices rose 188% from 2009 to 2015 — newer vehicles are significantly more valuable</a:t>
            </a:r>
            <a:endParaRPr lang="en-US" sz="1150" dirty="0"/>
          </a:p>
        </p:txBody>
      </p:sp>
      <p:sp>
        <p:nvSpPr>
          <p:cNvPr id="9" name="Shape 5"/>
          <p:cNvSpPr/>
          <p:nvPr/>
        </p:nvSpPr>
        <p:spPr>
          <a:xfrm>
            <a:off x="274320" y="4517136"/>
            <a:ext cx="8595360" cy="457200"/>
          </a:xfrm>
          <a:prstGeom prst="rect">
            <a:avLst/>
          </a:prstGeom>
          <a:solidFill>
            <a:srgbClr val="1E1E1E"/>
          </a:solidFill>
          <a:ln w="12700">
            <a:solidFill>
              <a:srgbClr val="10B981"/>
            </a:solidFill>
            <a:prstDash val="solid"/>
          </a:ln>
        </p:spPr>
      </p:sp>
      <p:sp>
        <p:nvSpPr>
          <p:cNvPr id="10" name="Shape 6"/>
          <p:cNvSpPr/>
          <p:nvPr/>
        </p:nvSpPr>
        <p:spPr>
          <a:xfrm>
            <a:off x="274320" y="4517136"/>
            <a:ext cx="54864" cy="457200"/>
          </a:xfrm>
          <a:prstGeom prst="rect">
            <a:avLst/>
          </a:prstGeom>
          <a:solidFill>
            <a:srgbClr val="10B981"/>
          </a:solidFill>
          <a:ln w="12700">
            <a:solidFill>
              <a:srgbClr val="10B981"/>
            </a:solidFill>
            <a:prstDash val="solid"/>
          </a:ln>
        </p:spPr>
      </p:sp>
      <p:sp>
        <p:nvSpPr>
          <p:cNvPr id="11" name="Text 7"/>
          <p:cNvSpPr/>
          <p:nvPr/>
        </p:nvSpPr>
        <p:spPr>
          <a:xfrm>
            <a:off x="457200" y="4581144"/>
            <a:ext cx="8229600" cy="310896"/>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  Automatic transmissions dominate: R6.5B revenue vs R150M for manual — a 43× difference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0A0A"/>
          </a:solidFill>
          <a:ln w="12700">
            <a:solidFill>
              <a:srgbClr val="0A0A0A"/>
            </a:solidFill>
            <a:prstDash val="solid"/>
          </a:ln>
        </p:spPr>
      </p:sp>
      <p:sp>
        <p:nvSpPr>
          <p:cNvPr id="3" name="Shape 1"/>
          <p:cNvSpPr/>
          <p:nvPr/>
        </p:nvSpPr>
        <p:spPr>
          <a:xfrm>
            <a:off x="0" y="932688"/>
            <a:ext cx="9144000" cy="64008"/>
          </a:xfrm>
          <a:prstGeom prst="rect">
            <a:avLst/>
          </a:prstGeom>
          <a:solidFill>
            <a:srgbClr val="00D4E8"/>
          </a:solidFill>
          <a:ln w="12700">
            <a:solidFill>
              <a:srgbClr val="00D4E8"/>
            </a:solidFill>
            <a:prstDash val="solid"/>
          </a:ln>
        </p:spPr>
      </p:sp>
      <p:sp>
        <p:nvSpPr>
          <p:cNvPr id="4" name="Text 2"/>
          <p:cNvSpPr/>
          <p:nvPr/>
        </p:nvSpPr>
        <p:spPr>
          <a:xfrm>
            <a:off x="457200" y="137160"/>
            <a:ext cx="8229600" cy="713232"/>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RECOMMENDATIONS</a:t>
            </a:r>
            <a:endParaRPr lang="en-US" sz="3200" dirty="0"/>
          </a:p>
        </p:txBody>
      </p:sp>
      <p:sp>
        <p:nvSpPr>
          <p:cNvPr id="5" name="Shape 3"/>
          <p:cNvSpPr/>
          <p:nvPr/>
        </p:nvSpPr>
        <p:spPr>
          <a:xfrm>
            <a:off x="274320" y="1188720"/>
            <a:ext cx="4251960" cy="109728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8000"/>
              </a:srgbClr>
            </a:outerShdw>
          </a:effectLst>
        </p:spPr>
      </p:sp>
      <p:sp>
        <p:nvSpPr>
          <p:cNvPr id="6" name="Shape 4"/>
          <p:cNvSpPr/>
          <p:nvPr/>
        </p:nvSpPr>
        <p:spPr>
          <a:xfrm>
            <a:off x="274320" y="1188720"/>
            <a:ext cx="64008" cy="1097280"/>
          </a:xfrm>
          <a:prstGeom prst="rect">
            <a:avLst/>
          </a:prstGeom>
          <a:solidFill>
            <a:srgbClr val="EF4444"/>
          </a:solidFill>
          <a:ln w="12700">
            <a:solidFill>
              <a:srgbClr val="EF4444"/>
            </a:solidFill>
            <a:prstDash val="solid"/>
          </a:ln>
        </p:spPr>
      </p:sp>
      <p:sp>
        <p:nvSpPr>
          <p:cNvPr id="7" name="Text 5"/>
          <p:cNvSpPr/>
          <p:nvPr/>
        </p:nvSpPr>
        <p:spPr>
          <a:xfrm>
            <a:off x="438912" y="1252728"/>
            <a:ext cx="502920" cy="365760"/>
          </a:xfrm>
          <a:prstGeom prst="rect">
            <a:avLst/>
          </a:prstGeom>
          <a:noFill/>
          <a:ln/>
        </p:spPr>
        <p:txBody>
          <a:bodyPr wrap="square" lIns="0" tIns="0" rIns="0" bIns="0" rtlCol="0" anchor="ctr"/>
          <a:lstStyle/>
          <a:p>
            <a:pPr algn="l" indent="0" marL="0">
              <a:buNone/>
            </a:pPr>
            <a:r>
              <a:rPr lang="en-US" sz="2200" b="1" dirty="0">
                <a:solidFill>
                  <a:srgbClr val="EF4444"/>
                </a:solidFill>
                <a:latin typeface="Arial Black" pitchFamily="34" charset="0"/>
                <a:ea typeface="Arial Black" pitchFamily="34" charset="-122"/>
                <a:cs typeface="Arial Black" pitchFamily="34" charset="-120"/>
              </a:rPr>
              <a:t>01</a:t>
            </a:r>
            <a:endParaRPr lang="en-US" sz="2200" dirty="0"/>
          </a:p>
        </p:txBody>
      </p:sp>
      <p:sp>
        <p:nvSpPr>
          <p:cNvPr id="8" name="Shape 6"/>
          <p:cNvSpPr/>
          <p:nvPr/>
        </p:nvSpPr>
        <p:spPr>
          <a:xfrm>
            <a:off x="3566160" y="1280160"/>
            <a:ext cx="822960" cy="256032"/>
          </a:xfrm>
          <a:prstGeom prst="rect">
            <a:avLst/>
          </a:prstGeom>
          <a:solidFill>
            <a:srgbClr val="EF4444"/>
          </a:solidFill>
          <a:ln w="12700">
            <a:solidFill>
              <a:srgbClr val="EF4444"/>
            </a:solidFill>
            <a:prstDash val="solid"/>
          </a:ln>
        </p:spPr>
      </p:sp>
      <p:sp>
        <p:nvSpPr>
          <p:cNvPr id="9" name="Text 7"/>
          <p:cNvSpPr/>
          <p:nvPr/>
        </p:nvSpPr>
        <p:spPr>
          <a:xfrm>
            <a:off x="3566160" y="1280160"/>
            <a:ext cx="82296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10" name="Text 8"/>
          <p:cNvSpPr/>
          <p:nvPr/>
        </p:nvSpPr>
        <p:spPr>
          <a:xfrm>
            <a:off x="987552" y="1252728"/>
            <a:ext cx="2532888" cy="347472"/>
          </a:xfrm>
          <a:prstGeom prst="rect">
            <a:avLst/>
          </a:prstGeom>
          <a:noFill/>
          <a:ln/>
        </p:spPr>
        <p:txBody>
          <a:bodyPr wrap="square" lIns="0" tIns="0" rIns="0" bIns="0" rtlCol="0" anchor="ctr"/>
          <a:lstStyle/>
          <a:p>
            <a:pPr algn="l" indent="0" marL="0">
              <a:buNone/>
            </a:pPr>
            <a:r>
              <a:rPr lang="en-US" sz="1300" b="1" dirty="0">
                <a:solidFill>
                  <a:srgbClr val="0A0A0A"/>
                </a:solidFill>
                <a:latin typeface="Calibri" pitchFamily="34" charset="0"/>
                <a:ea typeface="Calibri" pitchFamily="34" charset="-122"/>
                <a:cs typeface="Calibri" pitchFamily="34" charset="-120"/>
              </a:rPr>
              <a:t>Prioritise Low-Mileage Inventory</a:t>
            </a:r>
            <a:endParaRPr lang="en-US" sz="1300" dirty="0"/>
          </a:p>
        </p:txBody>
      </p:sp>
      <p:sp>
        <p:nvSpPr>
          <p:cNvPr id="11" name="Text 9"/>
          <p:cNvSpPr/>
          <p:nvPr/>
        </p:nvSpPr>
        <p:spPr>
          <a:xfrm>
            <a:off x="438912" y="1682496"/>
            <a:ext cx="3931920" cy="512064"/>
          </a:xfrm>
          <a:prstGeom prst="rect">
            <a:avLst/>
          </a:prstGeom>
          <a:noFill/>
          <a:ln/>
        </p:spPr>
        <p:txBody>
          <a:bodyPr wrap="square" lIns="0" tIns="0" rIns="0" bIns="0" rtlCol="0" anchor="ctr"/>
          <a:lstStyle/>
          <a:p>
            <a:pPr algn="l" indent="0" marL="0">
              <a:buNone/>
            </a:pPr>
            <a:r>
              <a:rPr lang="en-US" sz="1050" dirty="0">
                <a:solidFill>
                  <a:srgbClr val="64748B"/>
                </a:solidFill>
                <a:latin typeface="Calibri" pitchFamily="34" charset="0"/>
                <a:ea typeface="Calibri" pitchFamily="34" charset="-122"/>
                <a:cs typeface="Calibri" pitchFamily="34" charset="-120"/>
              </a:rPr>
              <a:t>Source more low-mileage vehicles via auctions and trade-ins. Create premium listings with warranty offers to maximise selling price.</a:t>
            </a:r>
            <a:endParaRPr lang="en-US" sz="1050" dirty="0"/>
          </a:p>
        </p:txBody>
      </p:sp>
      <p:sp>
        <p:nvSpPr>
          <p:cNvPr id="12" name="Shape 10"/>
          <p:cNvSpPr/>
          <p:nvPr/>
        </p:nvSpPr>
        <p:spPr>
          <a:xfrm>
            <a:off x="4800600" y="1188720"/>
            <a:ext cx="4251960" cy="109728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8000"/>
              </a:srgbClr>
            </a:outerShdw>
          </a:effectLst>
        </p:spPr>
      </p:sp>
      <p:sp>
        <p:nvSpPr>
          <p:cNvPr id="13" name="Shape 11"/>
          <p:cNvSpPr/>
          <p:nvPr/>
        </p:nvSpPr>
        <p:spPr>
          <a:xfrm>
            <a:off x="4800600" y="1188720"/>
            <a:ext cx="64008" cy="1097280"/>
          </a:xfrm>
          <a:prstGeom prst="rect">
            <a:avLst/>
          </a:prstGeom>
          <a:solidFill>
            <a:srgbClr val="EF4444"/>
          </a:solidFill>
          <a:ln w="12700">
            <a:solidFill>
              <a:srgbClr val="EF4444"/>
            </a:solidFill>
            <a:prstDash val="solid"/>
          </a:ln>
        </p:spPr>
      </p:sp>
      <p:sp>
        <p:nvSpPr>
          <p:cNvPr id="14" name="Text 12"/>
          <p:cNvSpPr/>
          <p:nvPr/>
        </p:nvSpPr>
        <p:spPr>
          <a:xfrm>
            <a:off x="4965192" y="1252728"/>
            <a:ext cx="502920" cy="365760"/>
          </a:xfrm>
          <a:prstGeom prst="rect">
            <a:avLst/>
          </a:prstGeom>
          <a:noFill/>
          <a:ln/>
        </p:spPr>
        <p:txBody>
          <a:bodyPr wrap="square" lIns="0" tIns="0" rIns="0" bIns="0" rtlCol="0" anchor="ctr"/>
          <a:lstStyle/>
          <a:p>
            <a:pPr algn="l" indent="0" marL="0">
              <a:buNone/>
            </a:pPr>
            <a:r>
              <a:rPr lang="en-US" sz="2200" b="1" dirty="0">
                <a:solidFill>
                  <a:srgbClr val="EF4444"/>
                </a:solidFill>
                <a:latin typeface="Arial Black" pitchFamily="34" charset="0"/>
                <a:ea typeface="Arial Black" pitchFamily="34" charset="-122"/>
                <a:cs typeface="Arial Black" pitchFamily="34" charset="-120"/>
              </a:rPr>
              <a:t>02</a:t>
            </a:r>
            <a:endParaRPr lang="en-US" sz="2200" dirty="0"/>
          </a:p>
        </p:txBody>
      </p:sp>
      <p:sp>
        <p:nvSpPr>
          <p:cNvPr id="15" name="Shape 13"/>
          <p:cNvSpPr/>
          <p:nvPr/>
        </p:nvSpPr>
        <p:spPr>
          <a:xfrm>
            <a:off x="8092440" y="1280160"/>
            <a:ext cx="822960" cy="256032"/>
          </a:xfrm>
          <a:prstGeom prst="rect">
            <a:avLst/>
          </a:prstGeom>
          <a:solidFill>
            <a:srgbClr val="EF4444"/>
          </a:solidFill>
          <a:ln w="12700">
            <a:solidFill>
              <a:srgbClr val="EF4444"/>
            </a:solidFill>
            <a:prstDash val="solid"/>
          </a:ln>
        </p:spPr>
      </p:sp>
      <p:sp>
        <p:nvSpPr>
          <p:cNvPr id="16" name="Text 14"/>
          <p:cNvSpPr/>
          <p:nvPr/>
        </p:nvSpPr>
        <p:spPr>
          <a:xfrm>
            <a:off x="8092440" y="1280160"/>
            <a:ext cx="82296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17" name="Text 15"/>
          <p:cNvSpPr/>
          <p:nvPr/>
        </p:nvSpPr>
        <p:spPr>
          <a:xfrm>
            <a:off x="5513832" y="1252728"/>
            <a:ext cx="2532888" cy="347472"/>
          </a:xfrm>
          <a:prstGeom prst="rect">
            <a:avLst/>
          </a:prstGeom>
          <a:noFill/>
          <a:ln/>
        </p:spPr>
        <p:txBody>
          <a:bodyPr wrap="square" lIns="0" tIns="0" rIns="0" bIns="0" rtlCol="0" anchor="ctr"/>
          <a:lstStyle/>
          <a:p>
            <a:pPr algn="l" indent="0" marL="0">
              <a:buNone/>
            </a:pPr>
            <a:r>
              <a:rPr lang="en-US" sz="1300" b="1" dirty="0">
                <a:solidFill>
                  <a:srgbClr val="0A0A0A"/>
                </a:solidFill>
                <a:latin typeface="Calibri" pitchFamily="34" charset="0"/>
                <a:ea typeface="Calibri" pitchFamily="34" charset="-122"/>
                <a:cs typeface="Calibri" pitchFamily="34" charset="-120"/>
              </a:rPr>
              <a:t>Boost Underperforming Regions</a:t>
            </a:r>
            <a:endParaRPr lang="en-US" sz="1300" dirty="0"/>
          </a:p>
        </p:txBody>
      </p:sp>
      <p:sp>
        <p:nvSpPr>
          <p:cNvPr id="18" name="Text 16"/>
          <p:cNvSpPr/>
          <p:nvPr/>
        </p:nvSpPr>
        <p:spPr>
          <a:xfrm>
            <a:off x="4965192" y="1682496"/>
            <a:ext cx="3931920" cy="512064"/>
          </a:xfrm>
          <a:prstGeom prst="rect">
            <a:avLst/>
          </a:prstGeom>
          <a:noFill/>
          <a:ln/>
        </p:spPr>
        <p:txBody>
          <a:bodyPr wrap="square" lIns="0" tIns="0" rIns="0" bIns="0" rtlCol="0" anchor="ctr"/>
          <a:lstStyle/>
          <a:p>
            <a:pPr algn="l" indent="0" marL="0">
              <a:buNone/>
            </a:pPr>
            <a:r>
              <a:rPr lang="en-US" sz="1050" dirty="0">
                <a:solidFill>
                  <a:srgbClr val="64748B"/>
                </a:solidFill>
                <a:latin typeface="Calibri" pitchFamily="34" charset="0"/>
                <a:ea typeface="Calibri" pitchFamily="34" charset="-122"/>
                <a:cs typeface="Calibri" pitchFamily="34" charset="-120"/>
              </a:rPr>
              <a:t>Launch targeted digital campaigns in GA &amp; TX. Transfer top-selling models from FL/CA into weaker markets with location-based finance specials.</a:t>
            </a:r>
            <a:endParaRPr lang="en-US" sz="1050" dirty="0"/>
          </a:p>
        </p:txBody>
      </p:sp>
      <p:sp>
        <p:nvSpPr>
          <p:cNvPr id="19" name="Shape 17"/>
          <p:cNvSpPr/>
          <p:nvPr/>
        </p:nvSpPr>
        <p:spPr>
          <a:xfrm>
            <a:off x="274320" y="2423160"/>
            <a:ext cx="4251960" cy="109728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8000"/>
              </a:srgbClr>
            </a:outerShdw>
          </a:effectLst>
        </p:spPr>
      </p:sp>
      <p:sp>
        <p:nvSpPr>
          <p:cNvPr id="20" name="Shape 18"/>
          <p:cNvSpPr/>
          <p:nvPr/>
        </p:nvSpPr>
        <p:spPr>
          <a:xfrm>
            <a:off x="274320" y="2423160"/>
            <a:ext cx="64008" cy="1097280"/>
          </a:xfrm>
          <a:prstGeom prst="rect">
            <a:avLst/>
          </a:prstGeom>
          <a:solidFill>
            <a:srgbClr val="F59E0B"/>
          </a:solidFill>
          <a:ln w="12700">
            <a:solidFill>
              <a:srgbClr val="F59E0B"/>
            </a:solidFill>
            <a:prstDash val="solid"/>
          </a:ln>
        </p:spPr>
      </p:sp>
      <p:sp>
        <p:nvSpPr>
          <p:cNvPr id="21" name="Text 19"/>
          <p:cNvSpPr/>
          <p:nvPr/>
        </p:nvSpPr>
        <p:spPr>
          <a:xfrm>
            <a:off x="438912" y="2487168"/>
            <a:ext cx="502920" cy="365760"/>
          </a:xfrm>
          <a:prstGeom prst="rect">
            <a:avLst/>
          </a:prstGeom>
          <a:noFill/>
          <a:ln/>
        </p:spPr>
        <p:txBody>
          <a:bodyPr wrap="square" lIns="0" tIns="0" rIns="0" bIns="0" rtlCol="0" anchor="ctr"/>
          <a:lstStyle/>
          <a:p>
            <a:pPr algn="l" indent="0" marL="0">
              <a:buNone/>
            </a:pPr>
            <a:r>
              <a:rPr lang="en-US" sz="2200" b="1" dirty="0">
                <a:solidFill>
                  <a:srgbClr val="F59E0B"/>
                </a:solidFill>
                <a:latin typeface="Arial Black" pitchFamily="34" charset="0"/>
                <a:ea typeface="Arial Black" pitchFamily="34" charset="-122"/>
                <a:cs typeface="Arial Black" pitchFamily="34" charset="-120"/>
              </a:rPr>
              <a:t>03</a:t>
            </a:r>
            <a:endParaRPr lang="en-US" sz="2200" dirty="0"/>
          </a:p>
        </p:txBody>
      </p:sp>
      <p:sp>
        <p:nvSpPr>
          <p:cNvPr id="22" name="Shape 20"/>
          <p:cNvSpPr/>
          <p:nvPr/>
        </p:nvSpPr>
        <p:spPr>
          <a:xfrm>
            <a:off x="3566160" y="2514600"/>
            <a:ext cx="822960" cy="256032"/>
          </a:xfrm>
          <a:prstGeom prst="rect">
            <a:avLst/>
          </a:prstGeom>
          <a:solidFill>
            <a:srgbClr val="F59E0B"/>
          </a:solidFill>
          <a:ln w="12700">
            <a:solidFill>
              <a:srgbClr val="F59E0B"/>
            </a:solidFill>
            <a:prstDash val="solid"/>
          </a:ln>
        </p:spPr>
      </p:sp>
      <p:sp>
        <p:nvSpPr>
          <p:cNvPr id="23" name="Text 21"/>
          <p:cNvSpPr/>
          <p:nvPr/>
        </p:nvSpPr>
        <p:spPr>
          <a:xfrm>
            <a:off x="3566160" y="2514600"/>
            <a:ext cx="82296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MED</a:t>
            </a:r>
            <a:endParaRPr lang="en-US" sz="900" dirty="0"/>
          </a:p>
        </p:txBody>
      </p:sp>
      <p:sp>
        <p:nvSpPr>
          <p:cNvPr id="24" name="Text 22"/>
          <p:cNvSpPr/>
          <p:nvPr/>
        </p:nvSpPr>
        <p:spPr>
          <a:xfrm>
            <a:off x="987552" y="2487168"/>
            <a:ext cx="2532888" cy="347472"/>
          </a:xfrm>
          <a:prstGeom prst="rect">
            <a:avLst/>
          </a:prstGeom>
          <a:noFill/>
          <a:ln/>
        </p:spPr>
        <p:txBody>
          <a:bodyPr wrap="square" lIns="0" tIns="0" rIns="0" bIns="0" rtlCol="0" anchor="ctr"/>
          <a:lstStyle/>
          <a:p>
            <a:pPr algn="l" indent="0" marL="0">
              <a:buNone/>
            </a:pPr>
            <a:r>
              <a:rPr lang="en-US" sz="1300" b="1" dirty="0">
                <a:solidFill>
                  <a:srgbClr val="0A0A0A"/>
                </a:solidFill>
                <a:latin typeface="Calibri" pitchFamily="34" charset="0"/>
                <a:ea typeface="Calibri" pitchFamily="34" charset="-122"/>
                <a:cs typeface="Calibri" pitchFamily="34" charset="-120"/>
              </a:rPr>
              <a:t>Maximise Automatic Vehicle Stock</a:t>
            </a:r>
            <a:endParaRPr lang="en-US" sz="1300" dirty="0"/>
          </a:p>
        </p:txBody>
      </p:sp>
      <p:sp>
        <p:nvSpPr>
          <p:cNvPr id="25" name="Text 23"/>
          <p:cNvSpPr/>
          <p:nvPr/>
        </p:nvSpPr>
        <p:spPr>
          <a:xfrm>
            <a:off x="438912" y="2916936"/>
            <a:ext cx="3931920" cy="512064"/>
          </a:xfrm>
          <a:prstGeom prst="rect">
            <a:avLst/>
          </a:prstGeom>
          <a:noFill/>
          <a:ln/>
        </p:spPr>
        <p:txBody>
          <a:bodyPr wrap="square" lIns="0" tIns="0" rIns="0" bIns="0" rtlCol="0" anchor="ctr"/>
          <a:lstStyle/>
          <a:p>
            <a:pPr algn="l" indent="0" marL="0">
              <a:buNone/>
            </a:pPr>
            <a:r>
              <a:rPr lang="en-US" sz="1050" dirty="0">
                <a:solidFill>
                  <a:srgbClr val="64748B"/>
                </a:solidFill>
                <a:latin typeface="Calibri" pitchFamily="34" charset="0"/>
                <a:ea typeface="Calibri" pitchFamily="34" charset="-122"/>
                <a:cs typeface="Calibri" pitchFamily="34" charset="-120"/>
              </a:rPr>
              <a:t>Adjust purchasing policies so 85%+ of incoming stock is automatic. Retain only select manual vehicles in budget-friendly categories.</a:t>
            </a:r>
            <a:endParaRPr lang="en-US" sz="1050" dirty="0"/>
          </a:p>
        </p:txBody>
      </p:sp>
      <p:sp>
        <p:nvSpPr>
          <p:cNvPr id="26" name="Shape 24"/>
          <p:cNvSpPr/>
          <p:nvPr/>
        </p:nvSpPr>
        <p:spPr>
          <a:xfrm>
            <a:off x="4800600" y="2423160"/>
            <a:ext cx="4251960" cy="109728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8000"/>
              </a:srgbClr>
            </a:outerShdw>
          </a:effectLst>
        </p:spPr>
      </p:sp>
      <p:sp>
        <p:nvSpPr>
          <p:cNvPr id="27" name="Shape 25"/>
          <p:cNvSpPr/>
          <p:nvPr/>
        </p:nvSpPr>
        <p:spPr>
          <a:xfrm>
            <a:off x="4800600" y="2423160"/>
            <a:ext cx="64008" cy="1097280"/>
          </a:xfrm>
          <a:prstGeom prst="rect">
            <a:avLst/>
          </a:prstGeom>
          <a:solidFill>
            <a:srgbClr val="F59E0B"/>
          </a:solidFill>
          <a:ln w="12700">
            <a:solidFill>
              <a:srgbClr val="F59E0B"/>
            </a:solidFill>
            <a:prstDash val="solid"/>
          </a:ln>
        </p:spPr>
      </p:sp>
      <p:sp>
        <p:nvSpPr>
          <p:cNvPr id="28" name="Text 26"/>
          <p:cNvSpPr/>
          <p:nvPr/>
        </p:nvSpPr>
        <p:spPr>
          <a:xfrm>
            <a:off x="4965192" y="2487168"/>
            <a:ext cx="502920" cy="365760"/>
          </a:xfrm>
          <a:prstGeom prst="rect">
            <a:avLst/>
          </a:prstGeom>
          <a:noFill/>
          <a:ln/>
        </p:spPr>
        <p:txBody>
          <a:bodyPr wrap="square" lIns="0" tIns="0" rIns="0" bIns="0" rtlCol="0" anchor="ctr"/>
          <a:lstStyle/>
          <a:p>
            <a:pPr algn="l" indent="0" marL="0">
              <a:buNone/>
            </a:pPr>
            <a:r>
              <a:rPr lang="en-US" sz="2200" b="1" dirty="0">
                <a:solidFill>
                  <a:srgbClr val="F59E0B"/>
                </a:solidFill>
                <a:latin typeface="Arial Black" pitchFamily="34" charset="0"/>
                <a:ea typeface="Arial Black" pitchFamily="34" charset="-122"/>
                <a:cs typeface="Arial Black" pitchFamily="34" charset="-120"/>
              </a:rPr>
              <a:t>04</a:t>
            </a:r>
            <a:endParaRPr lang="en-US" sz="2200" dirty="0"/>
          </a:p>
        </p:txBody>
      </p:sp>
      <p:sp>
        <p:nvSpPr>
          <p:cNvPr id="29" name="Shape 27"/>
          <p:cNvSpPr/>
          <p:nvPr/>
        </p:nvSpPr>
        <p:spPr>
          <a:xfrm>
            <a:off x="8092440" y="2514600"/>
            <a:ext cx="822960" cy="256032"/>
          </a:xfrm>
          <a:prstGeom prst="rect">
            <a:avLst/>
          </a:prstGeom>
          <a:solidFill>
            <a:srgbClr val="F59E0B"/>
          </a:solidFill>
          <a:ln w="12700">
            <a:solidFill>
              <a:srgbClr val="F59E0B"/>
            </a:solidFill>
            <a:prstDash val="solid"/>
          </a:ln>
        </p:spPr>
      </p:sp>
      <p:sp>
        <p:nvSpPr>
          <p:cNvPr id="30" name="Text 28"/>
          <p:cNvSpPr/>
          <p:nvPr/>
        </p:nvSpPr>
        <p:spPr>
          <a:xfrm>
            <a:off x="8092440" y="2514600"/>
            <a:ext cx="82296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MED</a:t>
            </a:r>
            <a:endParaRPr lang="en-US" sz="900" dirty="0"/>
          </a:p>
        </p:txBody>
      </p:sp>
      <p:sp>
        <p:nvSpPr>
          <p:cNvPr id="31" name="Text 29"/>
          <p:cNvSpPr/>
          <p:nvPr/>
        </p:nvSpPr>
        <p:spPr>
          <a:xfrm>
            <a:off x="5513832" y="2487168"/>
            <a:ext cx="2532888" cy="347472"/>
          </a:xfrm>
          <a:prstGeom prst="rect">
            <a:avLst/>
          </a:prstGeom>
          <a:noFill/>
          <a:ln/>
        </p:spPr>
        <p:txBody>
          <a:bodyPr wrap="square" lIns="0" tIns="0" rIns="0" bIns="0" rtlCol="0" anchor="ctr"/>
          <a:lstStyle/>
          <a:p>
            <a:pPr algn="l" indent="0" marL="0">
              <a:buNone/>
            </a:pPr>
            <a:r>
              <a:rPr lang="en-US" sz="1300" b="1" dirty="0">
                <a:solidFill>
                  <a:srgbClr val="0A0A0A"/>
                </a:solidFill>
                <a:latin typeface="Calibri" pitchFamily="34" charset="0"/>
                <a:ea typeface="Calibri" pitchFamily="34" charset="-122"/>
                <a:cs typeface="Calibri" pitchFamily="34" charset="-120"/>
              </a:rPr>
              <a:t>Review Poor-Performing Car Makes</a:t>
            </a:r>
            <a:endParaRPr lang="en-US" sz="1300" dirty="0"/>
          </a:p>
        </p:txBody>
      </p:sp>
      <p:sp>
        <p:nvSpPr>
          <p:cNvPr id="32" name="Text 30"/>
          <p:cNvSpPr/>
          <p:nvPr/>
        </p:nvSpPr>
        <p:spPr>
          <a:xfrm>
            <a:off x="4965192" y="2916936"/>
            <a:ext cx="3931920" cy="512064"/>
          </a:xfrm>
          <a:prstGeom prst="rect">
            <a:avLst/>
          </a:prstGeom>
          <a:noFill/>
          <a:ln/>
        </p:spPr>
        <p:txBody>
          <a:bodyPr wrap="square" lIns="0" tIns="0" rIns="0" bIns="0" rtlCol="0" anchor="ctr"/>
          <a:lstStyle/>
          <a:p>
            <a:pPr algn="l" indent="0" marL="0">
              <a:buNone/>
            </a:pPr>
            <a:r>
              <a:rPr lang="en-US" sz="1050" dirty="0">
                <a:solidFill>
                  <a:srgbClr val="64748B"/>
                </a:solidFill>
                <a:latin typeface="Calibri" pitchFamily="34" charset="0"/>
                <a:ea typeface="Calibri" pitchFamily="34" charset="-122"/>
                <a:cs typeface="Calibri" pitchFamily="34" charset="-120"/>
              </a:rPr>
              <a:t>Analyse brands with minimal sales. Either improve marketing or reduce future purchases and replace with proven high-sellers.</a:t>
            </a:r>
            <a:endParaRPr lang="en-US" sz="1050" dirty="0"/>
          </a:p>
        </p:txBody>
      </p:sp>
      <p:sp>
        <p:nvSpPr>
          <p:cNvPr id="33" name="Shape 31"/>
          <p:cNvSpPr/>
          <p:nvPr/>
        </p:nvSpPr>
        <p:spPr>
          <a:xfrm>
            <a:off x="274320" y="3657600"/>
            <a:ext cx="8595360" cy="109728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8000"/>
              </a:srgbClr>
            </a:outerShdw>
          </a:effectLst>
        </p:spPr>
      </p:sp>
      <p:sp>
        <p:nvSpPr>
          <p:cNvPr id="34" name="Shape 32"/>
          <p:cNvSpPr/>
          <p:nvPr/>
        </p:nvSpPr>
        <p:spPr>
          <a:xfrm>
            <a:off x="274320" y="3657600"/>
            <a:ext cx="64008" cy="1097280"/>
          </a:xfrm>
          <a:prstGeom prst="rect">
            <a:avLst/>
          </a:prstGeom>
          <a:solidFill>
            <a:srgbClr val="10B981"/>
          </a:solidFill>
          <a:ln w="12700">
            <a:solidFill>
              <a:srgbClr val="10B981"/>
            </a:solidFill>
            <a:prstDash val="solid"/>
          </a:ln>
        </p:spPr>
      </p:sp>
      <p:sp>
        <p:nvSpPr>
          <p:cNvPr id="35" name="Text 33"/>
          <p:cNvSpPr/>
          <p:nvPr/>
        </p:nvSpPr>
        <p:spPr>
          <a:xfrm>
            <a:off x="438912" y="3721608"/>
            <a:ext cx="502920" cy="365760"/>
          </a:xfrm>
          <a:prstGeom prst="rect">
            <a:avLst/>
          </a:prstGeom>
          <a:noFill/>
          <a:ln/>
        </p:spPr>
        <p:txBody>
          <a:bodyPr wrap="square" lIns="0" tIns="0" rIns="0" bIns="0" rtlCol="0" anchor="ctr"/>
          <a:lstStyle/>
          <a:p>
            <a:pPr algn="l" indent="0" marL="0">
              <a:buNone/>
            </a:pPr>
            <a:r>
              <a:rPr lang="en-US" sz="2200" b="1" dirty="0">
                <a:solidFill>
                  <a:srgbClr val="10B981"/>
                </a:solidFill>
                <a:latin typeface="Arial Black" pitchFamily="34" charset="0"/>
                <a:ea typeface="Arial Black" pitchFamily="34" charset="-122"/>
                <a:cs typeface="Arial Black" pitchFamily="34" charset="-120"/>
              </a:rPr>
              <a:t>05</a:t>
            </a:r>
            <a:endParaRPr lang="en-US" sz="2200" dirty="0"/>
          </a:p>
        </p:txBody>
      </p:sp>
      <p:sp>
        <p:nvSpPr>
          <p:cNvPr id="36" name="Shape 34"/>
          <p:cNvSpPr/>
          <p:nvPr/>
        </p:nvSpPr>
        <p:spPr>
          <a:xfrm>
            <a:off x="7909560" y="3749040"/>
            <a:ext cx="822960" cy="256032"/>
          </a:xfrm>
          <a:prstGeom prst="rect">
            <a:avLst/>
          </a:prstGeom>
          <a:solidFill>
            <a:srgbClr val="10B981"/>
          </a:solidFill>
          <a:ln w="12700">
            <a:solidFill>
              <a:srgbClr val="10B981"/>
            </a:solidFill>
            <a:prstDash val="solid"/>
          </a:ln>
        </p:spPr>
      </p:sp>
      <p:sp>
        <p:nvSpPr>
          <p:cNvPr id="37" name="Text 35"/>
          <p:cNvSpPr/>
          <p:nvPr/>
        </p:nvSpPr>
        <p:spPr>
          <a:xfrm>
            <a:off x="7909560" y="3749040"/>
            <a:ext cx="82296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38" name="Text 36"/>
          <p:cNvSpPr/>
          <p:nvPr/>
        </p:nvSpPr>
        <p:spPr>
          <a:xfrm>
            <a:off x="987552" y="3721608"/>
            <a:ext cx="6876288" cy="347472"/>
          </a:xfrm>
          <a:prstGeom prst="rect">
            <a:avLst/>
          </a:prstGeom>
          <a:noFill/>
          <a:ln/>
        </p:spPr>
        <p:txBody>
          <a:bodyPr wrap="square" lIns="0" tIns="0" rIns="0" bIns="0" rtlCol="0" anchor="ctr"/>
          <a:lstStyle/>
          <a:p>
            <a:pPr algn="l" indent="0" marL="0">
              <a:buNone/>
            </a:pPr>
            <a:r>
              <a:rPr lang="en-US" sz="1300" b="1" dirty="0">
                <a:solidFill>
                  <a:srgbClr val="0A0A0A"/>
                </a:solidFill>
                <a:latin typeface="Calibri" pitchFamily="34" charset="0"/>
                <a:ea typeface="Calibri" pitchFamily="34" charset="-122"/>
                <a:cs typeface="Calibri" pitchFamily="34" charset="-120"/>
              </a:rPr>
              <a:t>Double Down on Best-Selling Brands</a:t>
            </a:r>
            <a:endParaRPr lang="en-US" sz="1300" dirty="0"/>
          </a:p>
        </p:txBody>
      </p:sp>
      <p:sp>
        <p:nvSpPr>
          <p:cNvPr id="39" name="Text 37"/>
          <p:cNvSpPr/>
          <p:nvPr/>
        </p:nvSpPr>
        <p:spPr>
          <a:xfrm>
            <a:off x="438912" y="4151376"/>
            <a:ext cx="8275320" cy="512064"/>
          </a:xfrm>
          <a:prstGeom prst="rect">
            <a:avLst/>
          </a:prstGeom>
          <a:noFill/>
          <a:ln/>
        </p:spPr>
        <p:txBody>
          <a:bodyPr wrap="square" lIns="0" tIns="0" rIns="0" bIns="0" rtlCol="0" anchor="ctr"/>
          <a:lstStyle/>
          <a:p>
            <a:pPr algn="l" indent="0" marL="0">
              <a:buNone/>
            </a:pPr>
            <a:r>
              <a:rPr lang="en-US" sz="1050" dirty="0">
                <a:solidFill>
                  <a:srgbClr val="64748B"/>
                </a:solidFill>
                <a:latin typeface="Calibri" pitchFamily="34" charset="0"/>
                <a:ea typeface="Calibri" pitchFamily="34" charset="-122"/>
                <a:cs typeface="Calibri" pitchFamily="34" charset="-120"/>
              </a:rPr>
              <a:t>Allocate 70%+ of inventory to Ford, Chevrolet, and Nissan. Maintain small niche inventory for variety without over-investing.</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D4E8"/>
          </a:solidFill>
          <a:ln w="12700">
            <a:solidFill>
              <a:srgbClr val="00D4E8"/>
            </a:solidFill>
            <a:prstDash val="solid"/>
          </a:ln>
        </p:spPr>
      </p:sp>
      <p:sp>
        <p:nvSpPr>
          <p:cNvPr id="3" name="Text 1"/>
          <p:cNvSpPr/>
          <p:nvPr/>
        </p:nvSpPr>
        <p:spPr>
          <a:xfrm>
            <a:off x="457200" y="182880"/>
            <a:ext cx="8229600"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IMPLEMENTATION ROADMAP</a:t>
            </a:r>
            <a:endParaRPr lang="en-US" sz="3200" dirty="0"/>
          </a:p>
        </p:txBody>
      </p:sp>
      <p:sp>
        <p:nvSpPr>
          <p:cNvPr id="4" name="Shape 2"/>
          <p:cNvSpPr/>
          <p:nvPr/>
        </p:nvSpPr>
        <p:spPr>
          <a:xfrm>
            <a:off x="274320" y="1005840"/>
            <a:ext cx="2651760" cy="658368"/>
          </a:xfrm>
          <a:prstGeom prst="rect">
            <a:avLst/>
          </a:prstGeom>
          <a:solidFill>
            <a:srgbClr val="EF4444"/>
          </a:solidFill>
          <a:ln w="12700">
            <a:solidFill>
              <a:srgbClr val="EF4444"/>
            </a:solidFill>
            <a:prstDash val="solid"/>
          </a:ln>
        </p:spPr>
      </p:sp>
      <p:sp>
        <p:nvSpPr>
          <p:cNvPr id="5" name="Text 3"/>
          <p:cNvSpPr/>
          <p:nvPr/>
        </p:nvSpPr>
        <p:spPr>
          <a:xfrm>
            <a:off x="274320" y="1005840"/>
            <a:ext cx="2651760" cy="658368"/>
          </a:xfrm>
          <a:prstGeom prst="rect">
            <a:avLst/>
          </a:prstGeom>
          <a:noFill/>
          <a:ln/>
        </p:spPr>
        <p:txBody>
          <a:bodyPr wrap="square" lIns="0" tIns="0" rIns="0" bIns="0" rtlCol="0" anchor="ctr"/>
          <a:lstStyle/>
          <a:p>
            <a:pPr algn="ctr" indent="0" marL="0">
              <a:buNone/>
            </a:pPr>
            <a:r>
              <a:rPr lang="en-US" sz="1400" b="1" dirty="0">
                <a:solidFill>
                  <a:srgbClr val="0A0A0A"/>
                </a:solidFill>
                <a:latin typeface="Arial Black" pitchFamily="34" charset="0"/>
                <a:ea typeface="Arial Black" pitchFamily="34" charset="-122"/>
                <a:cs typeface="Arial Black" pitchFamily="34" charset="-120"/>
              </a:rPr>
              <a:t>PHASE 1</a:t>
            </a:r>
            <a:endParaRPr lang="en-US" sz="1400" dirty="0"/>
          </a:p>
          <a:p>
            <a:pPr algn="ctr" indent="0" marL="0">
              <a:buNone/>
            </a:pPr>
            <a:r>
              <a:rPr lang="en-US" sz="1400" b="1" dirty="0">
                <a:solidFill>
                  <a:srgbClr val="0A0A0A"/>
                </a:solidFill>
                <a:latin typeface="Arial Black" pitchFamily="34" charset="0"/>
                <a:ea typeface="Arial Black" pitchFamily="34" charset="-122"/>
                <a:cs typeface="Arial Black" pitchFamily="34" charset="-120"/>
              </a:rPr>
              <a:t>0–30 Days</a:t>
            </a:r>
            <a:endParaRPr lang="en-US" sz="1400" dirty="0"/>
          </a:p>
        </p:txBody>
      </p:sp>
      <p:sp>
        <p:nvSpPr>
          <p:cNvPr id="6" name="Shape 4"/>
          <p:cNvSpPr/>
          <p:nvPr/>
        </p:nvSpPr>
        <p:spPr>
          <a:xfrm>
            <a:off x="3337560" y="1005840"/>
            <a:ext cx="2651760" cy="658368"/>
          </a:xfrm>
          <a:prstGeom prst="rect">
            <a:avLst/>
          </a:prstGeom>
          <a:solidFill>
            <a:srgbClr val="F59E0B"/>
          </a:solidFill>
          <a:ln w="12700">
            <a:solidFill>
              <a:srgbClr val="F59E0B"/>
            </a:solidFill>
            <a:prstDash val="solid"/>
          </a:ln>
        </p:spPr>
      </p:sp>
      <p:sp>
        <p:nvSpPr>
          <p:cNvPr id="7" name="Text 5"/>
          <p:cNvSpPr/>
          <p:nvPr/>
        </p:nvSpPr>
        <p:spPr>
          <a:xfrm>
            <a:off x="3337560" y="1005840"/>
            <a:ext cx="2651760" cy="658368"/>
          </a:xfrm>
          <a:prstGeom prst="rect">
            <a:avLst/>
          </a:prstGeom>
          <a:noFill/>
          <a:ln/>
        </p:spPr>
        <p:txBody>
          <a:bodyPr wrap="square" lIns="0" tIns="0" rIns="0" bIns="0" rtlCol="0" anchor="ctr"/>
          <a:lstStyle/>
          <a:p>
            <a:pPr algn="ctr" indent="0" marL="0">
              <a:buNone/>
            </a:pPr>
            <a:r>
              <a:rPr lang="en-US" sz="1400" b="1" dirty="0">
                <a:solidFill>
                  <a:srgbClr val="0A0A0A"/>
                </a:solidFill>
                <a:latin typeface="Arial Black" pitchFamily="34" charset="0"/>
                <a:ea typeface="Arial Black" pitchFamily="34" charset="-122"/>
                <a:cs typeface="Arial Black" pitchFamily="34" charset="-120"/>
              </a:rPr>
              <a:t>PHASE 2</a:t>
            </a:r>
            <a:endParaRPr lang="en-US" sz="1400" dirty="0"/>
          </a:p>
          <a:p>
            <a:pPr algn="ctr" indent="0" marL="0">
              <a:buNone/>
            </a:pPr>
            <a:r>
              <a:rPr lang="en-US" sz="1400" b="1" dirty="0">
                <a:solidFill>
                  <a:srgbClr val="0A0A0A"/>
                </a:solidFill>
                <a:latin typeface="Arial Black" pitchFamily="34" charset="0"/>
                <a:ea typeface="Arial Black" pitchFamily="34" charset="-122"/>
                <a:cs typeface="Arial Black" pitchFamily="34" charset="-120"/>
              </a:rPr>
              <a:t>30–60 Days</a:t>
            </a:r>
            <a:endParaRPr lang="en-US" sz="1400" dirty="0"/>
          </a:p>
        </p:txBody>
      </p:sp>
      <p:sp>
        <p:nvSpPr>
          <p:cNvPr id="8" name="Shape 6"/>
          <p:cNvSpPr/>
          <p:nvPr/>
        </p:nvSpPr>
        <p:spPr>
          <a:xfrm>
            <a:off x="6400800" y="1005840"/>
            <a:ext cx="2651760" cy="658368"/>
          </a:xfrm>
          <a:prstGeom prst="rect">
            <a:avLst/>
          </a:prstGeom>
          <a:solidFill>
            <a:srgbClr val="10B981"/>
          </a:solidFill>
          <a:ln w="12700">
            <a:solidFill>
              <a:srgbClr val="10B981"/>
            </a:solidFill>
            <a:prstDash val="solid"/>
          </a:ln>
        </p:spPr>
      </p:sp>
      <p:sp>
        <p:nvSpPr>
          <p:cNvPr id="9" name="Text 7"/>
          <p:cNvSpPr/>
          <p:nvPr/>
        </p:nvSpPr>
        <p:spPr>
          <a:xfrm>
            <a:off x="6400800" y="1005840"/>
            <a:ext cx="2651760" cy="658368"/>
          </a:xfrm>
          <a:prstGeom prst="rect">
            <a:avLst/>
          </a:prstGeom>
          <a:noFill/>
          <a:ln/>
        </p:spPr>
        <p:txBody>
          <a:bodyPr wrap="square" lIns="0" tIns="0" rIns="0" bIns="0" rtlCol="0" anchor="ctr"/>
          <a:lstStyle/>
          <a:p>
            <a:pPr algn="ctr" indent="0" marL="0">
              <a:buNone/>
            </a:pPr>
            <a:r>
              <a:rPr lang="en-US" sz="1400" b="1" dirty="0">
                <a:solidFill>
                  <a:srgbClr val="0A0A0A"/>
                </a:solidFill>
                <a:latin typeface="Arial Black" pitchFamily="34" charset="0"/>
                <a:ea typeface="Arial Black" pitchFamily="34" charset="-122"/>
                <a:cs typeface="Arial Black" pitchFamily="34" charset="-120"/>
              </a:rPr>
              <a:t>PHASE 3</a:t>
            </a:r>
            <a:endParaRPr lang="en-US" sz="1400" dirty="0"/>
          </a:p>
          <a:p>
            <a:pPr algn="ctr" indent="0" marL="0">
              <a:buNone/>
            </a:pPr>
            <a:r>
              <a:rPr lang="en-US" sz="1400" b="1" dirty="0">
                <a:solidFill>
                  <a:srgbClr val="0A0A0A"/>
                </a:solidFill>
                <a:latin typeface="Arial Black" pitchFamily="34" charset="0"/>
                <a:ea typeface="Arial Black" pitchFamily="34" charset="-122"/>
                <a:cs typeface="Arial Black" pitchFamily="34" charset="-120"/>
              </a:rPr>
              <a:t>60–90 Days</a:t>
            </a:r>
            <a:endParaRPr lang="en-US" sz="1400" dirty="0"/>
          </a:p>
        </p:txBody>
      </p:sp>
      <p:sp>
        <p:nvSpPr>
          <p:cNvPr id="10" name="Shape 8"/>
          <p:cNvSpPr/>
          <p:nvPr/>
        </p:nvSpPr>
        <p:spPr>
          <a:xfrm>
            <a:off x="274320" y="1755648"/>
            <a:ext cx="2651760" cy="3108960"/>
          </a:xfrm>
          <a:prstGeom prst="rect">
            <a:avLst/>
          </a:prstGeom>
          <a:solidFill>
            <a:srgbClr val="1E1E1E"/>
          </a:solidFill>
          <a:ln w="12700">
            <a:solidFill>
              <a:srgbClr val="3D4D5C"/>
            </a:solidFill>
            <a:prstDash val="solid"/>
          </a:ln>
        </p:spPr>
      </p:sp>
      <p:sp>
        <p:nvSpPr>
          <p:cNvPr id="11" name="Shape 9"/>
          <p:cNvSpPr/>
          <p:nvPr/>
        </p:nvSpPr>
        <p:spPr>
          <a:xfrm>
            <a:off x="384048" y="1956816"/>
            <a:ext cx="182880" cy="182880"/>
          </a:xfrm>
          <a:prstGeom prst="ellipse">
            <a:avLst/>
          </a:prstGeom>
          <a:solidFill>
            <a:srgbClr val="EF4444"/>
          </a:solidFill>
          <a:ln w="12700">
            <a:solidFill>
              <a:srgbClr val="EF4444"/>
            </a:solidFill>
            <a:prstDash val="solid"/>
          </a:ln>
        </p:spPr>
      </p:sp>
      <p:sp>
        <p:nvSpPr>
          <p:cNvPr id="12" name="Text 10"/>
          <p:cNvSpPr/>
          <p:nvPr/>
        </p:nvSpPr>
        <p:spPr>
          <a:xfrm>
            <a:off x="640080" y="1883664"/>
            <a:ext cx="2176272" cy="512064"/>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Audit inventory by mileage band</a:t>
            </a:r>
            <a:endParaRPr lang="en-US" sz="1100" dirty="0"/>
          </a:p>
        </p:txBody>
      </p:sp>
      <p:sp>
        <p:nvSpPr>
          <p:cNvPr id="13" name="Shape 11"/>
          <p:cNvSpPr/>
          <p:nvPr/>
        </p:nvSpPr>
        <p:spPr>
          <a:xfrm>
            <a:off x="384048" y="2651760"/>
            <a:ext cx="182880" cy="182880"/>
          </a:xfrm>
          <a:prstGeom prst="ellipse">
            <a:avLst/>
          </a:prstGeom>
          <a:solidFill>
            <a:srgbClr val="EF4444"/>
          </a:solidFill>
          <a:ln w="12700">
            <a:solidFill>
              <a:srgbClr val="EF4444"/>
            </a:solidFill>
            <a:prstDash val="solid"/>
          </a:ln>
        </p:spPr>
      </p:sp>
      <p:sp>
        <p:nvSpPr>
          <p:cNvPr id="14" name="Text 12"/>
          <p:cNvSpPr/>
          <p:nvPr/>
        </p:nvSpPr>
        <p:spPr>
          <a:xfrm>
            <a:off x="640080" y="2578608"/>
            <a:ext cx="2176272" cy="512064"/>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Launch digital ads in GA &amp; TX</a:t>
            </a:r>
            <a:endParaRPr lang="en-US" sz="1100" dirty="0"/>
          </a:p>
        </p:txBody>
      </p:sp>
      <p:sp>
        <p:nvSpPr>
          <p:cNvPr id="15" name="Shape 13"/>
          <p:cNvSpPr/>
          <p:nvPr/>
        </p:nvSpPr>
        <p:spPr>
          <a:xfrm>
            <a:off x="384048" y="3346704"/>
            <a:ext cx="182880" cy="182880"/>
          </a:xfrm>
          <a:prstGeom prst="ellipse">
            <a:avLst/>
          </a:prstGeom>
          <a:solidFill>
            <a:srgbClr val="EF4444"/>
          </a:solidFill>
          <a:ln w="12700">
            <a:solidFill>
              <a:srgbClr val="EF4444"/>
            </a:solidFill>
            <a:prstDash val="solid"/>
          </a:ln>
        </p:spPr>
      </p:sp>
      <p:sp>
        <p:nvSpPr>
          <p:cNvPr id="16" name="Text 14"/>
          <p:cNvSpPr/>
          <p:nvPr/>
        </p:nvSpPr>
        <p:spPr>
          <a:xfrm>
            <a:off x="640080" y="3273552"/>
            <a:ext cx="2176272" cy="512064"/>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Review low-selling car makes</a:t>
            </a:r>
            <a:endParaRPr lang="en-US" sz="1100" dirty="0"/>
          </a:p>
        </p:txBody>
      </p:sp>
      <p:sp>
        <p:nvSpPr>
          <p:cNvPr id="17" name="Shape 15"/>
          <p:cNvSpPr/>
          <p:nvPr/>
        </p:nvSpPr>
        <p:spPr>
          <a:xfrm>
            <a:off x="384048" y="4041648"/>
            <a:ext cx="182880" cy="182880"/>
          </a:xfrm>
          <a:prstGeom prst="ellipse">
            <a:avLst/>
          </a:prstGeom>
          <a:solidFill>
            <a:srgbClr val="EF4444"/>
          </a:solidFill>
          <a:ln w="12700">
            <a:solidFill>
              <a:srgbClr val="EF4444"/>
            </a:solidFill>
            <a:prstDash val="solid"/>
          </a:ln>
        </p:spPr>
      </p:sp>
      <p:sp>
        <p:nvSpPr>
          <p:cNvPr id="18" name="Text 16"/>
          <p:cNvSpPr/>
          <p:nvPr/>
        </p:nvSpPr>
        <p:spPr>
          <a:xfrm>
            <a:off x="640080" y="3968496"/>
            <a:ext cx="2176272" cy="512064"/>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Set 85%+ automatic purchasing policy</a:t>
            </a:r>
            <a:endParaRPr lang="en-US" sz="1100" dirty="0"/>
          </a:p>
        </p:txBody>
      </p:sp>
      <p:sp>
        <p:nvSpPr>
          <p:cNvPr id="19" name="Shape 17"/>
          <p:cNvSpPr/>
          <p:nvPr/>
        </p:nvSpPr>
        <p:spPr>
          <a:xfrm>
            <a:off x="3337560" y="1755648"/>
            <a:ext cx="2651760" cy="3108960"/>
          </a:xfrm>
          <a:prstGeom prst="rect">
            <a:avLst/>
          </a:prstGeom>
          <a:solidFill>
            <a:srgbClr val="1E1E1E"/>
          </a:solidFill>
          <a:ln w="12700">
            <a:solidFill>
              <a:srgbClr val="3D4D5C"/>
            </a:solidFill>
            <a:prstDash val="solid"/>
          </a:ln>
        </p:spPr>
      </p:sp>
      <p:sp>
        <p:nvSpPr>
          <p:cNvPr id="20" name="Shape 18"/>
          <p:cNvSpPr/>
          <p:nvPr/>
        </p:nvSpPr>
        <p:spPr>
          <a:xfrm>
            <a:off x="3447288" y="1956816"/>
            <a:ext cx="182880" cy="182880"/>
          </a:xfrm>
          <a:prstGeom prst="ellipse">
            <a:avLst/>
          </a:prstGeom>
          <a:solidFill>
            <a:srgbClr val="F59E0B"/>
          </a:solidFill>
          <a:ln w="12700">
            <a:solidFill>
              <a:srgbClr val="F59E0B"/>
            </a:solidFill>
            <a:prstDash val="solid"/>
          </a:ln>
        </p:spPr>
      </p:sp>
      <p:sp>
        <p:nvSpPr>
          <p:cNvPr id="21" name="Text 19"/>
          <p:cNvSpPr/>
          <p:nvPr/>
        </p:nvSpPr>
        <p:spPr>
          <a:xfrm>
            <a:off x="3703320" y="1883664"/>
            <a:ext cx="2176272" cy="512064"/>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Onboard low-mileage auction suppliers</a:t>
            </a:r>
            <a:endParaRPr lang="en-US" sz="1100" dirty="0"/>
          </a:p>
        </p:txBody>
      </p:sp>
      <p:sp>
        <p:nvSpPr>
          <p:cNvPr id="22" name="Shape 20"/>
          <p:cNvSpPr/>
          <p:nvPr/>
        </p:nvSpPr>
        <p:spPr>
          <a:xfrm>
            <a:off x="3447288" y="2651760"/>
            <a:ext cx="182880" cy="182880"/>
          </a:xfrm>
          <a:prstGeom prst="ellipse">
            <a:avLst/>
          </a:prstGeom>
          <a:solidFill>
            <a:srgbClr val="F59E0B"/>
          </a:solidFill>
          <a:ln w="12700">
            <a:solidFill>
              <a:srgbClr val="F59E0B"/>
            </a:solidFill>
            <a:prstDash val="solid"/>
          </a:ln>
        </p:spPr>
      </p:sp>
      <p:sp>
        <p:nvSpPr>
          <p:cNvPr id="23" name="Text 21"/>
          <p:cNvSpPr/>
          <p:nvPr/>
        </p:nvSpPr>
        <p:spPr>
          <a:xfrm>
            <a:off x="3703320" y="2578608"/>
            <a:ext cx="2176272" cy="512064"/>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Deploy regional finance promotions</a:t>
            </a:r>
            <a:endParaRPr lang="en-US" sz="1100" dirty="0"/>
          </a:p>
        </p:txBody>
      </p:sp>
      <p:sp>
        <p:nvSpPr>
          <p:cNvPr id="24" name="Shape 22"/>
          <p:cNvSpPr/>
          <p:nvPr/>
        </p:nvSpPr>
        <p:spPr>
          <a:xfrm>
            <a:off x="3447288" y="3346704"/>
            <a:ext cx="182880" cy="182880"/>
          </a:xfrm>
          <a:prstGeom prst="ellipse">
            <a:avLst/>
          </a:prstGeom>
          <a:solidFill>
            <a:srgbClr val="F59E0B"/>
          </a:solidFill>
          <a:ln w="12700">
            <a:solidFill>
              <a:srgbClr val="F59E0B"/>
            </a:solidFill>
            <a:prstDash val="solid"/>
          </a:ln>
        </p:spPr>
      </p:sp>
      <p:sp>
        <p:nvSpPr>
          <p:cNvPr id="25" name="Text 23"/>
          <p:cNvSpPr/>
          <p:nvPr/>
        </p:nvSpPr>
        <p:spPr>
          <a:xfrm>
            <a:off x="3703320" y="3273552"/>
            <a:ext cx="2176272" cy="512064"/>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Reduce manual vehicle orders</a:t>
            </a:r>
            <a:endParaRPr lang="en-US" sz="1100" dirty="0"/>
          </a:p>
        </p:txBody>
      </p:sp>
      <p:sp>
        <p:nvSpPr>
          <p:cNvPr id="26" name="Shape 24"/>
          <p:cNvSpPr/>
          <p:nvPr/>
        </p:nvSpPr>
        <p:spPr>
          <a:xfrm>
            <a:off x="3447288" y="4041648"/>
            <a:ext cx="182880" cy="182880"/>
          </a:xfrm>
          <a:prstGeom prst="ellipse">
            <a:avLst/>
          </a:prstGeom>
          <a:solidFill>
            <a:srgbClr val="F59E0B"/>
          </a:solidFill>
          <a:ln w="12700">
            <a:solidFill>
              <a:srgbClr val="F59E0B"/>
            </a:solidFill>
            <a:prstDash val="solid"/>
          </a:ln>
        </p:spPr>
      </p:sp>
      <p:sp>
        <p:nvSpPr>
          <p:cNvPr id="27" name="Text 25"/>
          <p:cNvSpPr/>
          <p:nvPr/>
        </p:nvSpPr>
        <p:spPr>
          <a:xfrm>
            <a:off x="3703320" y="3968496"/>
            <a:ext cx="2176272" cy="512064"/>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Build brand performance KPI dashboards</a:t>
            </a:r>
            <a:endParaRPr lang="en-US" sz="1100" dirty="0"/>
          </a:p>
        </p:txBody>
      </p:sp>
      <p:sp>
        <p:nvSpPr>
          <p:cNvPr id="28" name="Shape 26"/>
          <p:cNvSpPr/>
          <p:nvPr/>
        </p:nvSpPr>
        <p:spPr>
          <a:xfrm>
            <a:off x="6400800" y="1755648"/>
            <a:ext cx="2651760" cy="3108960"/>
          </a:xfrm>
          <a:prstGeom prst="rect">
            <a:avLst/>
          </a:prstGeom>
          <a:solidFill>
            <a:srgbClr val="1E1E1E"/>
          </a:solidFill>
          <a:ln w="12700">
            <a:solidFill>
              <a:srgbClr val="3D4D5C"/>
            </a:solidFill>
            <a:prstDash val="solid"/>
          </a:ln>
        </p:spPr>
      </p:sp>
      <p:sp>
        <p:nvSpPr>
          <p:cNvPr id="29" name="Shape 27"/>
          <p:cNvSpPr/>
          <p:nvPr/>
        </p:nvSpPr>
        <p:spPr>
          <a:xfrm>
            <a:off x="6510528" y="1956816"/>
            <a:ext cx="182880" cy="182880"/>
          </a:xfrm>
          <a:prstGeom prst="ellipse">
            <a:avLst/>
          </a:prstGeom>
          <a:solidFill>
            <a:srgbClr val="10B981"/>
          </a:solidFill>
          <a:ln w="12700">
            <a:solidFill>
              <a:srgbClr val="10B981"/>
            </a:solidFill>
            <a:prstDash val="solid"/>
          </a:ln>
        </p:spPr>
      </p:sp>
      <p:sp>
        <p:nvSpPr>
          <p:cNvPr id="30" name="Text 28"/>
          <p:cNvSpPr/>
          <p:nvPr/>
        </p:nvSpPr>
        <p:spPr>
          <a:xfrm>
            <a:off x="6766560" y="1883664"/>
            <a:ext cx="2176272" cy="512064"/>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Review KPIs vs targets set</a:t>
            </a:r>
            <a:endParaRPr lang="en-US" sz="1100" dirty="0"/>
          </a:p>
        </p:txBody>
      </p:sp>
      <p:sp>
        <p:nvSpPr>
          <p:cNvPr id="31" name="Shape 29"/>
          <p:cNvSpPr/>
          <p:nvPr/>
        </p:nvSpPr>
        <p:spPr>
          <a:xfrm>
            <a:off x="6510528" y="2651760"/>
            <a:ext cx="182880" cy="182880"/>
          </a:xfrm>
          <a:prstGeom prst="ellipse">
            <a:avLst/>
          </a:prstGeom>
          <a:solidFill>
            <a:srgbClr val="10B981"/>
          </a:solidFill>
          <a:ln w="12700">
            <a:solidFill>
              <a:srgbClr val="10B981"/>
            </a:solidFill>
            <a:prstDash val="solid"/>
          </a:ln>
        </p:spPr>
      </p:sp>
      <p:sp>
        <p:nvSpPr>
          <p:cNvPr id="32" name="Text 30"/>
          <p:cNvSpPr/>
          <p:nvPr/>
        </p:nvSpPr>
        <p:spPr>
          <a:xfrm>
            <a:off x="6766560" y="2578608"/>
            <a:ext cx="2176272" cy="512064"/>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Scale Ford/Chevrolet/Nissan stock</a:t>
            </a:r>
            <a:endParaRPr lang="en-US" sz="1100" dirty="0"/>
          </a:p>
        </p:txBody>
      </p:sp>
      <p:sp>
        <p:nvSpPr>
          <p:cNvPr id="33" name="Shape 31"/>
          <p:cNvSpPr/>
          <p:nvPr/>
        </p:nvSpPr>
        <p:spPr>
          <a:xfrm>
            <a:off x="6510528" y="3346704"/>
            <a:ext cx="182880" cy="182880"/>
          </a:xfrm>
          <a:prstGeom prst="ellipse">
            <a:avLst/>
          </a:prstGeom>
          <a:solidFill>
            <a:srgbClr val="10B981"/>
          </a:solidFill>
          <a:ln w="12700">
            <a:solidFill>
              <a:srgbClr val="10B981"/>
            </a:solidFill>
            <a:prstDash val="solid"/>
          </a:ln>
        </p:spPr>
      </p:sp>
      <p:sp>
        <p:nvSpPr>
          <p:cNvPr id="34" name="Text 32"/>
          <p:cNvSpPr/>
          <p:nvPr/>
        </p:nvSpPr>
        <p:spPr>
          <a:xfrm>
            <a:off x="6766560" y="3273552"/>
            <a:ext cx="2176272" cy="512064"/>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Launch premium low-mileage listings</a:t>
            </a:r>
            <a:endParaRPr lang="en-US" sz="1100" dirty="0"/>
          </a:p>
        </p:txBody>
      </p:sp>
      <p:sp>
        <p:nvSpPr>
          <p:cNvPr id="35" name="Shape 33"/>
          <p:cNvSpPr/>
          <p:nvPr/>
        </p:nvSpPr>
        <p:spPr>
          <a:xfrm>
            <a:off x="6510528" y="4041648"/>
            <a:ext cx="182880" cy="182880"/>
          </a:xfrm>
          <a:prstGeom prst="ellipse">
            <a:avLst/>
          </a:prstGeom>
          <a:solidFill>
            <a:srgbClr val="10B981"/>
          </a:solidFill>
          <a:ln w="12700">
            <a:solidFill>
              <a:srgbClr val="10B981"/>
            </a:solidFill>
            <a:prstDash val="solid"/>
          </a:ln>
        </p:spPr>
      </p:sp>
      <p:sp>
        <p:nvSpPr>
          <p:cNvPr id="36" name="Text 34"/>
          <p:cNvSpPr/>
          <p:nvPr/>
        </p:nvSpPr>
        <p:spPr>
          <a:xfrm>
            <a:off x="6766560" y="3968496"/>
            <a:ext cx="2176272" cy="512064"/>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Quarterly strategy review cadence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0A0A"/>
          </a:solidFill>
          <a:ln w="12700">
            <a:solidFill>
              <a:srgbClr val="0A0A0A"/>
            </a:solidFill>
            <a:prstDash val="solid"/>
          </a:ln>
        </p:spPr>
      </p:sp>
      <p:sp>
        <p:nvSpPr>
          <p:cNvPr id="3" name="Shape 1"/>
          <p:cNvSpPr/>
          <p:nvPr/>
        </p:nvSpPr>
        <p:spPr>
          <a:xfrm>
            <a:off x="0" y="640080"/>
            <a:ext cx="9144000" cy="45720"/>
          </a:xfrm>
          <a:prstGeom prst="rect">
            <a:avLst/>
          </a:prstGeom>
          <a:solidFill>
            <a:srgbClr val="00D4E8"/>
          </a:solidFill>
          <a:ln w="12700">
            <a:solidFill>
              <a:srgbClr val="00D4E8"/>
            </a:solidFill>
            <a:prstDash val="solid"/>
          </a:ln>
        </p:spPr>
      </p:sp>
      <p:sp>
        <p:nvSpPr>
          <p:cNvPr id="4" name="Text 2"/>
          <p:cNvSpPr/>
          <p:nvPr/>
        </p:nvSpPr>
        <p:spPr>
          <a:xfrm>
            <a:off x="320040" y="73152"/>
            <a:ext cx="6400800" cy="512064"/>
          </a:xfrm>
          <a:prstGeom prst="rect">
            <a:avLst/>
          </a:prstGeom>
          <a:noFill/>
          <a:ln/>
        </p:spPr>
        <p:txBody>
          <a:bodyPr wrap="square" lIns="0" tIns="0" rIns="0" bIns="0" rtlCol="0" anchor="ctr"/>
          <a:lstStyle/>
          <a:p>
            <a:pPr algn="l" indent="0" marL="0">
              <a:buNone/>
            </a:pPr>
            <a:r>
              <a:rPr lang="en-US" sz="2600" b="1" dirty="0">
                <a:solidFill>
                  <a:srgbClr val="FFFFFF"/>
                </a:solidFill>
                <a:latin typeface="Arial Black" pitchFamily="34" charset="0"/>
                <a:ea typeface="Arial Black" pitchFamily="34" charset="-122"/>
                <a:cs typeface="Arial Black" pitchFamily="34" charset="-120"/>
              </a:rPr>
              <a:t>EXECUTIVE DASHBOARD</a:t>
            </a:r>
            <a:endParaRPr lang="en-US" sz="2600" dirty="0"/>
          </a:p>
        </p:txBody>
      </p:sp>
      <p:sp>
        <p:nvSpPr>
          <p:cNvPr id="5" name="Text 3"/>
          <p:cNvSpPr/>
          <p:nvPr/>
        </p:nvSpPr>
        <p:spPr>
          <a:xfrm>
            <a:off x="6400800" y="164592"/>
            <a:ext cx="2560320" cy="320040"/>
          </a:xfrm>
          <a:prstGeom prst="rect">
            <a:avLst/>
          </a:prstGeom>
          <a:noFill/>
          <a:ln/>
        </p:spPr>
        <p:txBody>
          <a:bodyPr wrap="square" lIns="0" tIns="0" rIns="0" bIns="0" rtlCol="0" anchor="ctr"/>
          <a:lstStyle/>
          <a:p>
            <a:pPr algn="r" indent="0" marL="0">
              <a:buNone/>
            </a:pPr>
            <a:r>
              <a:rPr lang="en-US" sz="1100" dirty="0">
                <a:solidFill>
                  <a:srgbClr val="00D4E8"/>
                </a:solidFill>
                <a:latin typeface="Calibri" pitchFamily="34" charset="0"/>
                <a:ea typeface="Calibri" pitchFamily="34" charset="-122"/>
                <a:cs typeface="Calibri" pitchFamily="34" charset="-120"/>
              </a:rPr>
              <a:t>Bright Car Sales  ·  Full Dataset Summary</a:t>
            </a:r>
            <a:endParaRPr lang="en-US" sz="1100" dirty="0"/>
          </a:p>
        </p:txBody>
      </p:sp>
      <p:sp>
        <p:nvSpPr>
          <p:cNvPr id="6" name="Shape 4"/>
          <p:cNvSpPr/>
          <p:nvPr/>
        </p:nvSpPr>
        <p:spPr>
          <a:xfrm>
            <a:off x="182880" y="804672"/>
            <a:ext cx="1673352" cy="841248"/>
          </a:xfrm>
          <a:prstGeom prst="rect">
            <a:avLst/>
          </a:prstGeom>
          <a:solidFill>
            <a:srgbClr val="1E1E1E"/>
          </a:solidFill>
          <a:ln w="12700">
            <a:solidFill>
              <a:srgbClr val="333333"/>
            </a:solidFill>
            <a:prstDash val="solid"/>
          </a:ln>
        </p:spPr>
      </p:sp>
      <p:sp>
        <p:nvSpPr>
          <p:cNvPr id="7" name="Shape 5"/>
          <p:cNvSpPr/>
          <p:nvPr/>
        </p:nvSpPr>
        <p:spPr>
          <a:xfrm>
            <a:off x="182880" y="804672"/>
            <a:ext cx="1673352" cy="45720"/>
          </a:xfrm>
          <a:prstGeom prst="rect">
            <a:avLst/>
          </a:prstGeom>
          <a:solidFill>
            <a:srgbClr val="00D4E8"/>
          </a:solidFill>
          <a:ln w="12700">
            <a:solidFill>
              <a:srgbClr val="00D4E8"/>
            </a:solidFill>
            <a:prstDash val="solid"/>
          </a:ln>
        </p:spPr>
      </p:sp>
      <p:sp>
        <p:nvSpPr>
          <p:cNvPr id="8" name="Text 6"/>
          <p:cNvSpPr/>
          <p:nvPr/>
        </p:nvSpPr>
        <p:spPr>
          <a:xfrm>
            <a:off x="182880" y="868680"/>
            <a:ext cx="1673352" cy="411480"/>
          </a:xfrm>
          <a:prstGeom prst="rect">
            <a:avLst/>
          </a:prstGeom>
          <a:noFill/>
          <a:ln/>
        </p:spPr>
        <p:txBody>
          <a:bodyPr wrap="square" lIns="0" tIns="0" rIns="0" bIns="0" rtlCol="0" anchor="ctr"/>
          <a:lstStyle/>
          <a:p>
            <a:pPr algn="ctr" indent="0" marL="0">
              <a:buNone/>
            </a:pPr>
            <a:r>
              <a:rPr lang="en-US" sz="2000" b="1" dirty="0">
                <a:solidFill>
                  <a:srgbClr val="00D4E8"/>
                </a:solidFill>
                <a:latin typeface="Arial Black" pitchFamily="34" charset="0"/>
                <a:ea typeface="Arial Black" pitchFamily="34" charset="-122"/>
                <a:cs typeface="Arial Black" pitchFamily="34" charset="-120"/>
              </a:rPr>
              <a:t>R7.61B</a:t>
            </a:r>
            <a:endParaRPr lang="en-US" sz="2000" dirty="0"/>
          </a:p>
        </p:txBody>
      </p:sp>
      <p:sp>
        <p:nvSpPr>
          <p:cNvPr id="9" name="Text 7"/>
          <p:cNvSpPr/>
          <p:nvPr/>
        </p:nvSpPr>
        <p:spPr>
          <a:xfrm>
            <a:off x="182880" y="1280160"/>
            <a:ext cx="1673352" cy="256032"/>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Total Revenue</a:t>
            </a:r>
            <a:endParaRPr lang="en-US" sz="950" dirty="0"/>
          </a:p>
        </p:txBody>
      </p:sp>
      <p:sp>
        <p:nvSpPr>
          <p:cNvPr id="10" name="Shape 8"/>
          <p:cNvSpPr/>
          <p:nvPr/>
        </p:nvSpPr>
        <p:spPr>
          <a:xfrm>
            <a:off x="1947672" y="804672"/>
            <a:ext cx="1673352" cy="841248"/>
          </a:xfrm>
          <a:prstGeom prst="rect">
            <a:avLst/>
          </a:prstGeom>
          <a:solidFill>
            <a:srgbClr val="1E1E1E"/>
          </a:solidFill>
          <a:ln w="12700">
            <a:solidFill>
              <a:srgbClr val="333333"/>
            </a:solidFill>
            <a:prstDash val="solid"/>
          </a:ln>
        </p:spPr>
      </p:sp>
      <p:sp>
        <p:nvSpPr>
          <p:cNvPr id="11" name="Shape 9"/>
          <p:cNvSpPr/>
          <p:nvPr/>
        </p:nvSpPr>
        <p:spPr>
          <a:xfrm>
            <a:off x="1947672" y="804672"/>
            <a:ext cx="1673352" cy="45720"/>
          </a:xfrm>
          <a:prstGeom prst="rect">
            <a:avLst/>
          </a:prstGeom>
          <a:solidFill>
            <a:srgbClr val="10B981"/>
          </a:solidFill>
          <a:ln w="12700">
            <a:solidFill>
              <a:srgbClr val="10B981"/>
            </a:solidFill>
            <a:prstDash val="solid"/>
          </a:ln>
        </p:spPr>
      </p:sp>
      <p:sp>
        <p:nvSpPr>
          <p:cNvPr id="12" name="Text 10"/>
          <p:cNvSpPr/>
          <p:nvPr/>
        </p:nvSpPr>
        <p:spPr>
          <a:xfrm>
            <a:off x="1947672" y="868680"/>
            <a:ext cx="1673352" cy="411480"/>
          </a:xfrm>
          <a:prstGeom prst="rect">
            <a:avLst/>
          </a:prstGeom>
          <a:noFill/>
          <a:ln/>
        </p:spPr>
        <p:txBody>
          <a:bodyPr wrap="square" lIns="0" tIns="0" rIns="0" bIns="0" rtlCol="0" anchor="ctr"/>
          <a:lstStyle/>
          <a:p>
            <a:pPr algn="ctr" indent="0" marL="0">
              <a:buNone/>
            </a:pPr>
            <a:r>
              <a:rPr lang="en-US" sz="2000" b="1" dirty="0">
                <a:solidFill>
                  <a:srgbClr val="10B981"/>
                </a:solidFill>
                <a:latin typeface="Arial Black" pitchFamily="34" charset="0"/>
                <a:ea typeface="Arial Black" pitchFamily="34" charset="-122"/>
                <a:cs typeface="Arial Black" pitchFamily="34" charset="-120"/>
              </a:rPr>
              <a:t>290,080</a:t>
            </a:r>
            <a:endParaRPr lang="en-US" sz="2000" dirty="0"/>
          </a:p>
        </p:txBody>
      </p:sp>
      <p:sp>
        <p:nvSpPr>
          <p:cNvPr id="13" name="Text 11"/>
          <p:cNvSpPr/>
          <p:nvPr/>
        </p:nvSpPr>
        <p:spPr>
          <a:xfrm>
            <a:off x="1947672" y="1280160"/>
            <a:ext cx="1673352" cy="256032"/>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Total Units Sold</a:t>
            </a:r>
            <a:endParaRPr lang="en-US" sz="950" dirty="0"/>
          </a:p>
        </p:txBody>
      </p:sp>
      <p:sp>
        <p:nvSpPr>
          <p:cNvPr id="14" name="Shape 12"/>
          <p:cNvSpPr/>
          <p:nvPr/>
        </p:nvSpPr>
        <p:spPr>
          <a:xfrm>
            <a:off x="3712464" y="804672"/>
            <a:ext cx="1673352" cy="841248"/>
          </a:xfrm>
          <a:prstGeom prst="rect">
            <a:avLst/>
          </a:prstGeom>
          <a:solidFill>
            <a:srgbClr val="1E1E1E"/>
          </a:solidFill>
          <a:ln w="12700">
            <a:solidFill>
              <a:srgbClr val="333333"/>
            </a:solidFill>
            <a:prstDash val="solid"/>
          </a:ln>
        </p:spPr>
      </p:sp>
      <p:sp>
        <p:nvSpPr>
          <p:cNvPr id="15" name="Shape 13"/>
          <p:cNvSpPr/>
          <p:nvPr/>
        </p:nvSpPr>
        <p:spPr>
          <a:xfrm>
            <a:off x="3712464" y="804672"/>
            <a:ext cx="1673352" cy="45720"/>
          </a:xfrm>
          <a:prstGeom prst="rect">
            <a:avLst/>
          </a:prstGeom>
          <a:solidFill>
            <a:srgbClr val="F59E0B"/>
          </a:solidFill>
          <a:ln w="12700">
            <a:solidFill>
              <a:srgbClr val="F59E0B"/>
            </a:solidFill>
            <a:prstDash val="solid"/>
          </a:ln>
        </p:spPr>
      </p:sp>
      <p:sp>
        <p:nvSpPr>
          <p:cNvPr id="16" name="Text 14"/>
          <p:cNvSpPr/>
          <p:nvPr/>
        </p:nvSpPr>
        <p:spPr>
          <a:xfrm>
            <a:off x="3712464" y="868680"/>
            <a:ext cx="1673352" cy="411480"/>
          </a:xfrm>
          <a:prstGeom prst="rect">
            <a:avLst/>
          </a:prstGeom>
          <a:noFill/>
          <a:ln/>
        </p:spPr>
        <p:txBody>
          <a:bodyPr wrap="square" lIns="0" tIns="0" rIns="0" bIns="0" rtlCol="0" anchor="ctr"/>
          <a:lstStyle/>
          <a:p>
            <a:pPr algn="ctr" indent="0" marL="0">
              <a:buNone/>
            </a:pPr>
            <a:r>
              <a:rPr lang="en-US" sz="2000" b="1" dirty="0">
                <a:solidFill>
                  <a:srgbClr val="F59E0B"/>
                </a:solidFill>
                <a:latin typeface="Arial Black" pitchFamily="34" charset="0"/>
                <a:ea typeface="Arial Black" pitchFamily="34" charset="-122"/>
                <a:cs typeface="Arial Black" pitchFamily="34" charset="-120"/>
              </a:rPr>
              <a:t>R26,217</a:t>
            </a:r>
            <a:endParaRPr lang="en-US" sz="2000" dirty="0"/>
          </a:p>
        </p:txBody>
      </p:sp>
      <p:sp>
        <p:nvSpPr>
          <p:cNvPr id="17" name="Text 15"/>
          <p:cNvSpPr/>
          <p:nvPr/>
        </p:nvSpPr>
        <p:spPr>
          <a:xfrm>
            <a:off x="3712464" y="1280160"/>
            <a:ext cx="1673352" cy="256032"/>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Avg Selling Price</a:t>
            </a:r>
            <a:endParaRPr lang="en-US" sz="950" dirty="0"/>
          </a:p>
        </p:txBody>
      </p:sp>
      <p:sp>
        <p:nvSpPr>
          <p:cNvPr id="18" name="Shape 16"/>
          <p:cNvSpPr/>
          <p:nvPr/>
        </p:nvSpPr>
        <p:spPr>
          <a:xfrm>
            <a:off x="5477256" y="804672"/>
            <a:ext cx="1673352" cy="841248"/>
          </a:xfrm>
          <a:prstGeom prst="rect">
            <a:avLst/>
          </a:prstGeom>
          <a:solidFill>
            <a:srgbClr val="1E1E1E"/>
          </a:solidFill>
          <a:ln w="12700">
            <a:solidFill>
              <a:srgbClr val="333333"/>
            </a:solidFill>
            <a:prstDash val="solid"/>
          </a:ln>
        </p:spPr>
      </p:sp>
      <p:sp>
        <p:nvSpPr>
          <p:cNvPr id="19" name="Shape 17"/>
          <p:cNvSpPr/>
          <p:nvPr/>
        </p:nvSpPr>
        <p:spPr>
          <a:xfrm>
            <a:off x="5477256" y="804672"/>
            <a:ext cx="1673352" cy="45720"/>
          </a:xfrm>
          <a:prstGeom prst="rect">
            <a:avLst/>
          </a:prstGeom>
          <a:solidFill>
            <a:srgbClr val="3B82F6"/>
          </a:solidFill>
          <a:ln w="12700">
            <a:solidFill>
              <a:srgbClr val="3B82F6"/>
            </a:solidFill>
            <a:prstDash val="solid"/>
          </a:ln>
        </p:spPr>
      </p:sp>
      <p:sp>
        <p:nvSpPr>
          <p:cNvPr id="20" name="Text 18"/>
          <p:cNvSpPr/>
          <p:nvPr/>
        </p:nvSpPr>
        <p:spPr>
          <a:xfrm>
            <a:off x="5477256" y="868680"/>
            <a:ext cx="1673352" cy="411480"/>
          </a:xfrm>
          <a:prstGeom prst="rect">
            <a:avLst/>
          </a:prstGeom>
          <a:noFill/>
          <a:ln/>
        </p:spPr>
        <p:txBody>
          <a:bodyPr wrap="square" lIns="0" tIns="0" rIns="0" bIns="0" rtlCol="0" anchor="ctr"/>
          <a:lstStyle/>
          <a:p>
            <a:pPr algn="ctr" indent="0" marL="0">
              <a:buNone/>
            </a:pPr>
            <a:r>
              <a:rPr lang="en-US" sz="2000" b="1" dirty="0">
                <a:solidFill>
                  <a:srgbClr val="3B82F6"/>
                </a:solidFill>
                <a:latin typeface="Arial Black" pitchFamily="34" charset="0"/>
                <a:ea typeface="Arial Black" pitchFamily="34" charset="-122"/>
                <a:cs typeface="Arial Black" pitchFamily="34" charset="-120"/>
              </a:rPr>
              <a:t>82,862</a:t>
            </a:r>
            <a:endParaRPr lang="en-US" sz="2000" dirty="0"/>
          </a:p>
        </p:txBody>
      </p:sp>
      <p:sp>
        <p:nvSpPr>
          <p:cNvPr id="21" name="Text 19"/>
          <p:cNvSpPr/>
          <p:nvPr/>
        </p:nvSpPr>
        <p:spPr>
          <a:xfrm>
            <a:off x="5477256" y="1280160"/>
            <a:ext cx="1673352" cy="256032"/>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Top State Units (FL)</a:t>
            </a:r>
            <a:endParaRPr lang="en-US" sz="950" dirty="0"/>
          </a:p>
        </p:txBody>
      </p:sp>
      <p:sp>
        <p:nvSpPr>
          <p:cNvPr id="22" name="Shape 20"/>
          <p:cNvSpPr/>
          <p:nvPr/>
        </p:nvSpPr>
        <p:spPr>
          <a:xfrm>
            <a:off x="7242048" y="804672"/>
            <a:ext cx="1673352" cy="841248"/>
          </a:xfrm>
          <a:prstGeom prst="rect">
            <a:avLst/>
          </a:prstGeom>
          <a:solidFill>
            <a:srgbClr val="1E1E1E"/>
          </a:solidFill>
          <a:ln w="12700">
            <a:solidFill>
              <a:srgbClr val="333333"/>
            </a:solidFill>
            <a:prstDash val="solid"/>
          </a:ln>
        </p:spPr>
      </p:sp>
      <p:sp>
        <p:nvSpPr>
          <p:cNvPr id="23" name="Shape 21"/>
          <p:cNvSpPr/>
          <p:nvPr/>
        </p:nvSpPr>
        <p:spPr>
          <a:xfrm>
            <a:off x="7242048" y="804672"/>
            <a:ext cx="1673352" cy="45720"/>
          </a:xfrm>
          <a:prstGeom prst="rect">
            <a:avLst/>
          </a:prstGeom>
          <a:solidFill>
            <a:srgbClr val="EF4444"/>
          </a:solidFill>
          <a:ln w="12700">
            <a:solidFill>
              <a:srgbClr val="EF4444"/>
            </a:solidFill>
            <a:prstDash val="solid"/>
          </a:ln>
        </p:spPr>
      </p:sp>
      <p:sp>
        <p:nvSpPr>
          <p:cNvPr id="24" name="Text 22"/>
          <p:cNvSpPr/>
          <p:nvPr/>
        </p:nvSpPr>
        <p:spPr>
          <a:xfrm>
            <a:off x="7242048" y="868680"/>
            <a:ext cx="1673352" cy="411480"/>
          </a:xfrm>
          <a:prstGeom prst="rect">
            <a:avLst/>
          </a:prstGeom>
          <a:noFill/>
          <a:ln/>
        </p:spPr>
        <p:txBody>
          <a:bodyPr wrap="square" lIns="0" tIns="0" rIns="0" bIns="0" rtlCol="0" anchor="ctr"/>
          <a:lstStyle/>
          <a:p>
            <a:pPr algn="ctr" indent="0" marL="0">
              <a:buNone/>
            </a:pPr>
            <a:r>
              <a:rPr lang="en-US" sz="2000" b="1" dirty="0">
                <a:solidFill>
                  <a:srgbClr val="EF4444"/>
                </a:solidFill>
                <a:latin typeface="Arial Black" pitchFamily="34" charset="0"/>
                <a:ea typeface="Arial Black" pitchFamily="34" charset="-122"/>
                <a:cs typeface="Arial Black" pitchFamily="34" charset="-120"/>
              </a:rPr>
              <a:t>93,000</a:t>
            </a:r>
            <a:endParaRPr lang="en-US" sz="2000" dirty="0"/>
          </a:p>
        </p:txBody>
      </p:sp>
      <p:sp>
        <p:nvSpPr>
          <p:cNvPr id="25" name="Text 23"/>
          <p:cNvSpPr/>
          <p:nvPr/>
        </p:nvSpPr>
        <p:spPr>
          <a:xfrm>
            <a:off x="7242048" y="1280160"/>
            <a:ext cx="1673352" cy="256032"/>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Top Brand Units (Ford)</a:t>
            </a:r>
            <a:endParaRPr lang="en-US" sz="950" dirty="0"/>
          </a:p>
        </p:txBody>
      </p:sp>
      <p:graphicFrame>
        <p:nvGraphicFramePr>
          <p:cNvPr id="26" name="Chart 0" descr=""/>
          <p:cNvGraphicFramePr/>
          <p:nvPr/>
        </p:nvGraphicFramePr>
        <p:xfrm>
          <a:off x="182880" y="1783080"/>
          <a:ext cx="2743200" cy="1874520"/>
        </p:xfrm>
        <a:graphic xmlns:a="http://schemas.openxmlformats.org/drawingml/2006/main">
          <a:graphicData uri="http://schemas.openxmlformats.org/drawingml/2006/chart">
            <c:chart xmlns:c="http://schemas.openxmlformats.org/drawingml/2006/chart" r:id="rId1"/>
          </a:graphicData>
        </a:graphic>
      </p:graphicFrame>
      <p:graphicFrame>
        <p:nvGraphicFramePr>
          <p:cNvPr id="27" name="Chart 1" descr=""/>
          <p:cNvGraphicFramePr/>
          <p:nvPr/>
        </p:nvGraphicFramePr>
        <p:xfrm>
          <a:off x="3108960" y="1783080"/>
          <a:ext cx="2926080" cy="1874520"/>
        </p:xfrm>
        <a:graphic xmlns:a="http://schemas.openxmlformats.org/drawingml/2006/main">
          <a:graphicData uri="http://schemas.openxmlformats.org/drawingml/2006/chart">
            <c:chart xmlns:c="http://schemas.openxmlformats.org/drawingml/2006/chart" r:id="rId2"/>
          </a:graphicData>
        </a:graphic>
      </p:graphicFrame>
      <p:graphicFrame>
        <p:nvGraphicFramePr>
          <p:cNvPr id="28" name="Chart 2" descr=""/>
          <p:cNvGraphicFramePr/>
          <p:nvPr/>
        </p:nvGraphicFramePr>
        <p:xfrm>
          <a:off x="6172200" y="1783080"/>
          <a:ext cx="2743200" cy="1874520"/>
        </p:xfrm>
        <a:graphic xmlns:a="http://schemas.openxmlformats.org/drawingml/2006/main">
          <a:graphicData uri="http://schemas.openxmlformats.org/drawingml/2006/chart">
            <c:chart xmlns:c="http://schemas.openxmlformats.org/drawingml/2006/chart" r:id="rId3"/>
          </a:graphicData>
        </a:graphic>
      </p:graphicFrame>
      <p:graphicFrame>
        <p:nvGraphicFramePr>
          <p:cNvPr id="29" name="Chart 3" descr=""/>
          <p:cNvGraphicFramePr/>
          <p:nvPr/>
        </p:nvGraphicFramePr>
        <p:xfrm>
          <a:off x="182880" y="3794760"/>
          <a:ext cx="4389120" cy="1188720"/>
        </p:xfrm>
        <a:graphic xmlns:a="http://schemas.openxmlformats.org/drawingml/2006/main">
          <a:graphicData uri="http://schemas.openxmlformats.org/drawingml/2006/chart">
            <c:chart xmlns:c="http://schemas.openxmlformats.org/drawingml/2006/chart" r:id="rId4"/>
          </a:graphicData>
        </a:graphic>
      </p:graphicFrame>
      <p:graphicFrame>
        <p:nvGraphicFramePr>
          <p:cNvPr id="30" name="Chart 4" descr=""/>
          <p:cNvGraphicFramePr/>
          <p:nvPr/>
        </p:nvGraphicFramePr>
        <p:xfrm>
          <a:off x="4754880" y="3794760"/>
          <a:ext cx="4206240" cy="1188720"/>
        </p:xfrm>
        <a:graphic xmlns:a="http://schemas.openxmlformats.org/drawingml/2006/main">
          <a:graphicData uri="http://schemas.openxmlformats.org/drawingml/2006/chart">
            <c:chart xmlns:c="http://schemas.openxmlformats.org/drawingml/2006/chart" r:id="rId5"/>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D4E8"/>
          </a:solidFill>
          <a:ln w="12700">
            <a:solidFill>
              <a:srgbClr val="00D4E8"/>
            </a:solidFill>
            <a:prstDash val="solid"/>
          </a:ln>
        </p:spPr>
      </p:sp>
      <p:sp>
        <p:nvSpPr>
          <p:cNvPr id="3" name="Shape 1"/>
          <p:cNvSpPr/>
          <p:nvPr/>
        </p:nvSpPr>
        <p:spPr>
          <a:xfrm>
            <a:off x="9089136" y="0"/>
            <a:ext cx="54864" cy="5143500"/>
          </a:xfrm>
          <a:prstGeom prst="rect">
            <a:avLst/>
          </a:prstGeom>
          <a:solidFill>
            <a:srgbClr val="00D4E8"/>
          </a:solidFill>
          <a:ln w="12700">
            <a:solidFill>
              <a:srgbClr val="00D4E8"/>
            </a:solidFill>
            <a:prstDash val="solid"/>
          </a:ln>
        </p:spPr>
      </p:sp>
      <p:sp>
        <p:nvSpPr>
          <p:cNvPr id="4" name="Shape 2"/>
          <p:cNvSpPr/>
          <p:nvPr/>
        </p:nvSpPr>
        <p:spPr>
          <a:xfrm>
            <a:off x="0" y="0"/>
            <a:ext cx="9144000" cy="54864"/>
          </a:xfrm>
          <a:prstGeom prst="rect">
            <a:avLst/>
          </a:prstGeom>
          <a:solidFill>
            <a:srgbClr val="00D4E8"/>
          </a:solidFill>
          <a:ln w="12700">
            <a:solidFill>
              <a:srgbClr val="00D4E8"/>
            </a:solidFill>
            <a:prstDash val="solid"/>
          </a:ln>
        </p:spPr>
      </p:sp>
      <p:sp>
        <p:nvSpPr>
          <p:cNvPr id="5" name="Shape 3"/>
          <p:cNvSpPr/>
          <p:nvPr/>
        </p:nvSpPr>
        <p:spPr>
          <a:xfrm>
            <a:off x="0" y="5088636"/>
            <a:ext cx="9144000" cy="54864"/>
          </a:xfrm>
          <a:prstGeom prst="rect">
            <a:avLst/>
          </a:prstGeom>
          <a:solidFill>
            <a:srgbClr val="00D4E8"/>
          </a:solidFill>
          <a:ln w="12700">
            <a:solidFill>
              <a:srgbClr val="00D4E8"/>
            </a:solidFill>
            <a:prstDash val="solid"/>
          </a:ln>
        </p:spPr>
      </p:sp>
      <p:sp>
        <p:nvSpPr>
          <p:cNvPr id="6" name="Text 4"/>
          <p:cNvSpPr/>
          <p:nvPr/>
        </p:nvSpPr>
        <p:spPr>
          <a:xfrm>
            <a:off x="457200" y="914400"/>
            <a:ext cx="8229600" cy="1005840"/>
          </a:xfrm>
          <a:prstGeom prst="rect">
            <a:avLst/>
          </a:prstGeom>
          <a:noFill/>
          <a:ln/>
        </p:spPr>
        <p:txBody>
          <a:bodyPr wrap="square" lIns="0" tIns="0" rIns="0" bIns="0" rtlCol="0" anchor="ctr"/>
          <a:lstStyle/>
          <a:p>
            <a:pPr algn="ctr" indent="0" marL="0">
              <a:buNone/>
            </a:pPr>
            <a:r>
              <a:rPr lang="en-US" sz="7200" b="1" dirty="0">
                <a:solidFill>
                  <a:srgbClr val="00D4E8"/>
                </a:solidFill>
                <a:latin typeface="Arial Black" pitchFamily="34" charset="0"/>
                <a:ea typeface="Arial Black" pitchFamily="34" charset="-122"/>
                <a:cs typeface="Arial Black" pitchFamily="34" charset="-120"/>
              </a:rPr>
              <a:t>THANK YOU</a:t>
            </a:r>
            <a:endParaRPr lang="en-US" sz="7200" dirty="0"/>
          </a:p>
        </p:txBody>
      </p:sp>
      <p:sp>
        <p:nvSpPr>
          <p:cNvPr id="7" name="Text 5"/>
          <p:cNvSpPr/>
          <p:nvPr/>
        </p:nvSpPr>
        <p:spPr>
          <a:xfrm>
            <a:off x="457200" y="2011680"/>
            <a:ext cx="8229600" cy="457200"/>
          </a:xfrm>
          <a:prstGeom prst="rect">
            <a:avLst/>
          </a:prstGeom>
          <a:noFill/>
          <a:ln/>
        </p:spPr>
        <p:txBody>
          <a:bodyPr wrap="square" lIns="0" tIns="0" rIns="0" bIns="0" rtlCol="0" anchor="ctr"/>
          <a:lstStyle/>
          <a:p>
            <a:pPr algn="ctr" indent="0" marL="0">
              <a:buNone/>
            </a:pPr>
            <a:r>
              <a:rPr lang="en-US" sz="1500" dirty="0">
                <a:solidFill>
                  <a:srgbClr val="94A3B8"/>
                </a:solidFill>
                <a:latin typeface="Calibri" pitchFamily="34" charset="0"/>
                <a:ea typeface="Calibri" pitchFamily="34" charset="-122"/>
                <a:cs typeface="Calibri" pitchFamily="34" charset="-120"/>
              </a:rPr>
              <a:t>Bright Car Sales  —  Driving Smarter Decisions with Data</a:t>
            </a:r>
            <a:endParaRPr lang="en-US" sz="1500" dirty="0"/>
          </a:p>
        </p:txBody>
      </p:sp>
      <p:sp>
        <p:nvSpPr>
          <p:cNvPr id="8" name="Shape 6"/>
          <p:cNvSpPr/>
          <p:nvPr/>
        </p:nvSpPr>
        <p:spPr>
          <a:xfrm>
            <a:off x="3200400" y="2651760"/>
            <a:ext cx="2743200" cy="45720"/>
          </a:xfrm>
          <a:prstGeom prst="rect">
            <a:avLst/>
          </a:prstGeom>
          <a:solidFill>
            <a:srgbClr val="00D4E8"/>
          </a:solidFill>
          <a:ln w="12700">
            <a:solidFill>
              <a:srgbClr val="00D4E8"/>
            </a:solidFill>
            <a:prstDash val="solid"/>
          </a:ln>
        </p:spPr>
      </p:sp>
      <p:sp>
        <p:nvSpPr>
          <p:cNvPr id="9" name="Text 7"/>
          <p:cNvSpPr/>
          <p:nvPr/>
        </p:nvSpPr>
        <p:spPr>
          <a:xfrm>
            <a:off x="914400" y="2926080"/>
            <a:ext cx="2286000" cy="594360"/>
          </a:xfrm>
          <a:prstGeom prst="rect">
            <a:avLst/>
          </a:prstGeom>
          <a:noFill/>
          <a:ln/>
        </p:spPr>
        <p:txBody>
          <a:bodyPr wrap="square" lIns="0" tIns="0" rIns="0" bIns="0" rtlCol="0" anchor="ctr"/>
          <a:lstStyle/>
          <a:p>
            <a:pPr algn="ctr" indent="0" marL="0">
              <a:buNone/>
            </a:pPr>
            <a:r>
              <a:rPr lang="en-US" sz="3400" b="1" dirty="0">
                <a:solidFill>
                  <a:srgbClr val="00D4E8"/>
                </a:solidFill>
                <a:latin typeface="Arial Black" pitchFamily="34" charset="0"/>
                <a:ea typeface="Arial Black" pitchFamily="34" charset="-122"/>
                <a:cs typeface="Arial Black" pitchFamily="34" charset="-120"/>
              </a:rPr>
              <a:t>R7.61B</a:t>
            </a:r>
            <a:endParaRPr lang="en-US" sz="3400" dirty="0"/>
          </a:p>
        </p:txBody>
      </p:sp>
      <p:sp>
        <p:nvSpPr>
          <p:cNvPr id="10" name="Text 8"/>
          <p:cNvSpPr/>
          <p:nvPr/>
        </p:nvSpPr>
        <p:spPr>
          <a:xfrm>
            <a:off x="914400" y="3547872"/>
            <a:ext cx="2286000" cy="32004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Total Revenue</a:t>
            </a:r>
            <a:endParaRPr lang="en-US" sz="1200" dirty="0"/>
          </a:p>
        </p:txBody>
      </p:sp>
      <p:sp>
        <p:nvSpPr>
          <p:cNvPr id="11" name="Text 9"/>
          <p:cNvSpPr/>
          <p:nvPr/>
        </p:nvSpPr>
        <p:spPr>
          <a:xfrm>
            <a:off x="3657600" y="2926080"/>
            <a:ext cx="2286000" cy="594360"/>
          </a:xfrm>
          <a:prstGeom prst="rect">
            <a:avLst/>
          </a:prstGeom>
          <a:noFill/>
          <a:ln/>
        </p:spPr>
        <p:txBody>
          <a:bodyPr wrap="square" lIns="0" tIns="0" rIns="0" bIns="0" rtlCol="0" anchor="ctr"/>
          <a:lstStyle/>
          <a:p>
            <a:pPr algn="ctr" indent="0" marL="0">
              <a:buNone/>
            </a:pPr>
            <a:r>
              <a:rPr lang="en-US" sz="3400" b="1" dirty="0">
                <a:solidFill>
                  <a:srgbClr val="00D4E8"/>
                </a:solidFill>
                <a:latin typeface="Arial Black" pitchFamily="34" charset="0"/>
                <a:ea typeface="Arial Black" pitchFamily="34" charset="-122"/>
                <a:cs typeface="Arial Black" pitchFamily="34" charset="-120"/>
              </a:rPr>
              <a:t>290K+</a:t>
            </a:r>
            <a:endParaRPr lang="en-US" sz="3400" dirty="0"/>
          </a:p>
        </p:txBody>
      </p:sp>
      <p:sp>
        <p:nvSpPr>
          <p:cNvPr id="12" name="Text 10"/>
          <p:cNvSpPr/>
          <p:nvPr/>
        </p:nvSpPr>
        <p:spPr>
          <a:xfrm>
            <a:off x="3657600" y="3547872"/>
            <a:ext cx="2286000" cy="32004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Units Analysed</a:t>
            </a:r>
            <a:endParaRPr lang="en-US" sz="1200" dirty="0"/>
          </a:p>
        </p:txBody>
      </p:sp>
      <p:sp>
        <p:nvSpPr>
          <p:cNvPr id="13" name="Text 11"/>
          <p:cNvSpPr/>
          <p:nvPr/>
        </p:nvSpPr>
        <p:spPr>
          <a:xfrm>
            <a:off x="6400800" y="2926080"/>
            <a:ext cx="2286000" cy="594360"/>
          </a:xfrm>
          <a:prstGeom prst="rect">
            <a:avLst/>
          </a:prstGeom>
          <a:noFill/>
          <a:ln/>
        </p:spPr>
        <p:txBody>
          <a:bodyPr wrap="square" lIns="0" tIns="0" rIns="0" bIns="0" rtlCol="0" anchor="ctr"/>
          <a:lstStyle/>
          <a:p>
            <a:pPr algn="ctr" indent="0" marL="0">
              <a:buNone/>
            </a:pPr>
            <a:r>
              <a:rPr lang="en-US" sz="3400" b="1" dirty="0">
                <a:solidFill>
                  <a:srgbClr val="00D4E8"/>
                </a:solidFill>
                <a:latin typeface="Arial Black" pitchFamily="34" charset="0"/>
                <a:ea typeface="Arial Black" pitchFamily="34" charset="-122"/>
                <a:cs typeface="Arial Black" pitchFamily="34" charset="-120"/>
              </a:rPr>
              <a:t>5</a:t>
            </a:r>
            <a:endParaRPr lang="en-US" sz="3400" dirty="0"/>
          </a:p>
        </p:txBody>
      </p:sp>
      <p:sp>
        <p:nvSpPr>
          <p:cNvPr id="14" name="Text 12"/>
          <p:cNvSpPr/>
          <p:nvPr/>
        </p:nvSpPr>
        <p:spPr>
          <a:xfrm>
            <a:off x="6400800" y="3547872"/>
            <a:ext cx="2286000" cy="32004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Strategic Actions</a:t>
            </a:r>
            <a:endParaRPr lang="en-US" sz="1200" dirty="0"/>
          </a:p>
        </p:txBody>
      </p:sp>
      <p:sp>
        <p:nvSpPr>
          <p:cNvPr id="15" name="Text 13"/>
          <p:cNvSpPr/>
          <p:nvPr/>
        </p:nvSpPr>
        <p:spPr>
          <a:xfrm>
            <a:off x="457200" y="4480560"/>
            <a:ext cx="8229600" cy="292608"/>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Presented by Ethaba Mhlongo  ·  Junior Data Analyst  ·  Bright Motors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Bright Car Sales - Ethaba Mhlongo</dc:title>
  <dc:subject>PptxGenJS Presentation</dc:subject>
  <dc:creator>PptxGenJS</dc:creator>
  <cp:lastModifiedBy>PptxGenJS</cp:lastModifiedBy>
  <cp:revision>1</cp:revision>
  <dcterms:created xsi:type="dcterms:W3CDTF">2026-04-29T08:57:23Z</dcterms:created>
  <dcterms:modified xsi:type="dcterms:W3CDTF">2026-04-29T08:57:23Z</dcterms:modified>
</cp:coreProperties>
</file>