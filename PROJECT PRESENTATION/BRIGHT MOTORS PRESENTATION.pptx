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GMC</c:v>
                  </c:pt>
                  <c:pt idx="1">
                    <c:v>Chrysler</c:v>
                  </c:pt>
                  <c:pt idx="2">
                    <c:v>Jeep</c:v>
                  </c:pt>
                  <c:pt idx="3">
                    <c:v>Kia</c:v>
                  </c:pt>
                  <c:pt idx="4">
                    <c:v>Hyundai</c:v>
                  </c:pt>
                  <c:pt idx="5">
                    <c:v>Lexus</c:v>
                  </c:pt>
                  <c:pt idx="6">
                    <c:v>Honda</c:v>
                  </c:pt>
                  <c:pt idx="7">
                    <c:v>Infiniti</c:v>
                  </c:pt>
                  <c:pt idx="8">
                    <c:v>Mercedes-Benz</c:v>
                  </c:pt>
                  <c:pt idx="9">
                    <c:v>Dodge</c:v>
                  </c:pt>
                  <c:pt idx="10">
                    <c:v>BMW</c:v>
                  </c:pt>
                  <c:pt idx="11">
                    <c:v>Toyota</c:v>
                  </c:pt>
                  <c:pt idx="12">
                    <c:v>Nissan</c:v>
                  </c:pt>
                  <c:pt idx="13">
                    <c:v>Chevrolet</c:v>
                  </c:pt>
                  <c:pt idx="14">
                    <c:v>Ford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31247129</c:v>
                </c:pt>
                <c:pt idx="1">
                  <c:v>33821007</c:v>
                </c:pt>
                <c:pt idx="2">
                  <c:v>38630082</c:v>
                </c:pt>
                <c:pt idx="3">
                  <c:v>39444761</c:v>
                </c:pt>
                <c:pt idx="4">
                  <c:v>43917954</c:v>
                </c:pt>
                <c:pt idx="5">
                  <c:v>43953650</c:v>
                </c:pt>
                <c:pt idx="6">
                  <c:v>57258900</c:v>
                </c:pt>
                <c:pt idx="7">
                  <c:v>60470532</c:v>
                </c:pt>
                <c:pt idx="8">
                  <c:v>61106456</c:v>
                </c:pt>
                <c:pt idx="9">
                  <c:v>63300173</c:v>
                </c:pt>
                <c:pt idx="10">
                  <c:v>77541004</c:v>
                </c:pt>
                <c:pt idx="11">
                  <c:v>91067109</c:v>
                </c:pt>
                <c:pt idx="12">
                  <c:v>107718781</c:v>
                </c:pt>
                <c:pt idx="13">
                  <c:v>136585318</c:v>
                </c:pt>
                <c:pt idx="14">
                  <c:v>259949030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Make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Total Revenue ($)</a:t>
                </a:r>
              </a:p>
            </c:rich>
          </c:tx>
          <c:layout/>
          <c:overlay val="0"/>
        </c:title>
        <c:numFmt formatCode="$#,##0.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Maxima</c:v>
                  </c:pt>
                  <c:pt idx="1">
                    <c:v>C-Class</c:v>
                  </c:pt>
                  <c:pt idx="2">
                    <c:v>Accord</c:v>
                  </c:pt>
                  <c:pt idx="3">
                    <c:v>Grand Caravan</c:v>
                  </c:pt>
                  <c:pt idx="4">
                    <c:v>Silverado 1500</c:v>
                  </c:pt>
                  <c:pt idx="5">
                    <c:v>Focus</c:v>
                  </c:pt>
                  <c:pt idx="6">
                    <c:v>Edge</c:v>
                  </c:pt>
                  <c:pt idx="7">
                    <c:v>Camry</c:v>
                  </c:pt>
                  <c:pt idx="8">
                    <c:v>3 Series</c:v>
                  </c:pt>
                  <c:pt idx="9">
                    <c:v>Explorer</c:v>
                  </c:pt>
                  <c:pt idx="10">
                    <c:v>G Sedan</c:v>
                  </c:pt>
                  <c:pt idx="11">
                    <c:v>Fusion</c:v>
                  </c:pt>
                  <c:pt idx="12">
                    <c:v>Escape</c:v>
                  </c:pt>
                  <c:pt idx="13">
                    <c:v>Altima</c:v>
                  </c:pt>
                  <c:pt idx="14">
                    <c:v>F-150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15785890</c:v>
                </c:pt>
                <c:pt idx="1">
                  <c:v>15799175</c:v>
                </c:pt>
                <c:pt idx="2">
                  <c:v>17288000</c:v>
                </c:pt>
                <c:pt idx="3">
                  <c:v>17551518</c:v>
                </c:pt>
                <c:pt idx="4">
                  <c:v>19525675</c:v>
                </c:pt>
                <c:pt idx="5">
                  <c:v>20021736</c:v>
                </c:pt>
                <c:pt idx="6">
                  <c:v>22064153</c:v>
                </c:pt>
                <c:pt idx="7">
                  <c:v>26263214</c:v>
                </c:pt>
                <c:pt idx="8">
                  <c:v>26533725</c:v>
                </c:pt>
                <c:pt idx="9">
                  <c:v>26604278</c:v>
                </c:pt>
                <c:pt idx="10">
                  <c:v>29134502</c:v>
                </c:pt>
                <c:pt idx="11">
                  <c:v>32412408</c:v>
                </c:pt>
                <c:pt idx="12">
                  <c:v>33010327</c:v>
                </c:pt>
                <c:pt idx="13">
                  <c:v>39731460</c:v>
                </c:pt>
                <c:pt idx="14">
                  <c:v>48981745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Model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Total Revenue ($)</a:t>
                </a:r>
              </a:p>
            </c:rich>
          </c:tx>
          <c:layout/>
          <c:overlay val="0"/>
        </c:title>
        <c:numFmt formatCode="$#,##0.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Sheet1!$A$2:$A$35</c:f>
              <c:multiLvlStrCache>
                <c:ptCount val="34"/>
                <c:lvl>
                  <c:pt idx="0">
                    <c:v>FL</c:v>
                  </c:pt>
                  <c:pt idx="1">
                    <c:v>CA</c:v>
                  </c:pt>
                  <c:pt idx="2">
                    <c:v>TX</c:v>
                  </c:pt>
                  <c:pt idx="3">
                    <c:v>GA</c:v>
                  </c:pt>
                  <c:pt idx="4">
                    <c:v>PA</c:v>
                  </c:pt>
                  <c:pt idx="5">
                    <c:v>IL</c:v>
                  </c:pt>
                  <c:pt idx="6">
                    <c:v>NJ</c:v>
                  </c:pt>
                  <c:pt idx="7">
                    <c:v>OH</c:v>
                  </c:pt>
                  <c:pt idx="8">
                    <c:v>TN</c:v>
                  </c:pt>
                  <c:pt idx="9">
                    <c:v>NC</c:v>
                  </c:pt>
                  <c:pt idx="10">
                    <c:v>MO</c:v>
                  </c:pt>
                  <c:pt idx="11">
                    <c:v>MI</c:v>
                  </c:pt>
                  <c:pt idx="12">
                    <c:v>NV</c:v>
                  </c:pt>
                  <c:pt idx="13">
                    <c:v>MD</c:v>
                  </c:pt>
                  <c:pt idx="14">
                    <c:v>VA</c:v>
                  </c:pt>
                  <c:pt idx="15">
                    <c:v>WI</c:v>
                  </c:pt>
                  <c:pt idx="16">
                    <c:v>MN</c:v>
                  </c:pt>
                  <c:pt idx="17">
                    <c:v>AZ</c:v>
                  </c:pt>
                  <c:pt idx="18">
                    <c:v>WA</c:v>
                  </c:pt>
                  <c:pt idx="19">
                    <c:v>CO</c:v>
                  </c:pt>
                  <c:pt idx="20">
                    <c:v>MA</c:v>
                  </c:pt>
                  <c:pt idx="21">
                    <c:v>NY</c:v>
                  </c:pt>
                  <c:pt idx="22">
                    <c:v>SC</c:v>
                  </c:pt>
                  <c:pt idx="23">
                    <c:v>NE</c:v>
                  </c:pt>
                  <c:pt idx="24">
                    <c:v>IN</c:v>
                  </c:pt>
                  <c:pt idx="25">
                    <c:v>PR</c:v>
                  </c:pt>
                  <c:pt idx="26">
                    <c:v>UT</c:v>
                  </c:pt>
                  <c:pt idx="27">
                    <c:v>LA</c:v>
                  </c:pt>
                  <c:pt idx="28">
                    <c:v>HI</c:v>
                  </c:pt>
                  <c:pt idx="29">
                    <c:v>OR</c:v>
                  </c:pt>
                  <c:pt idx="30">
                    <c:v>MS</c:v>
                  </c:pt>
                  <c:pt idx="31">
                    <c:v>NM</c:v>
                  </c:pt>
                  <c:pt idx="32">
                    <c:v>OK</c:v>
                  </c:pt>
                  <c:pt idx="33">
                    <c:v>AL</c:v>
                  </c:pt>
                </c:lvl>
              </c:multiLvlStrCache>
            </c:multiLvl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15501</c:v>
                </c:pt>
                <c:pt idx="1">
                  <c:v>14746</c:v>
                </c:pt>
                <c:pt idx="2">
                  <c:v>8766</c:v>
                </c:pt>
                <c:pt idx="3">
                  <c:v>6560</c:v>
                </c:pt>
                <c:pt idx="4">
                  <c:v>5121</c:v>
                </c:pt>
                <c:pt idx="5">
                  <c:v>4657</c:v>
                </c:pt>
                <c:pt idx="6">
                  <c:v>4618</c:v>
                </c:pt>
                <c:pt idx="7">
                  <c:v>4326</c:v>
                </c:pt>
                <c:pt idx="8">
                  <c:v>4244</c:v>
                </c:pt>
                <c:pt idx="9">
                  <c:v>4071</c:v>
                </c:pt>
                <c:pt idx="10">
                  <c:v>3240</c:v>
                </c:pt>
                <c:pt idx="11">
                  <c:v>2948</c:v>
                </c:pt>
                <c:pt idx="12">
                  <c:v>2440</c:v>
                </c:pt>
                <c:pt idx="13">
                  <c:v>2173</c:v>
                </c:pt>
                <c:pt idx="14">
                  <c:v>2114</c:v>
                </c:pt>
                <c:pt idx="15">
                  <c:v>1911</c:v>
                </c:pt>
                <c:pt idx="16">
                  <c:v>1814</c:v>
                </c:pt>
                <c:pt idx="17">
                  <c:v>1556</c:v>
                </c:pt>
                <c:pt idx="18">
                  <c:v>1451</c:v>
                </c:pt>
                <c:pt idx="19">
                  <c:v>1244</c:v>
                </c:pt>
                <c:pt idx="20">
                  <c:v>1220</c:v>
                </c:pt>
                <c:pt idx="21">
                  <c:v>954</c:v>
                </c:pt>
                <c:pt idx="22">
                  <c:v>809</c:v>
                </c:pt>
                <c:pt idx="23">
                  <c:v>807</c:v>
                </c:pt>
                <c:pt idx="24">
                  <c:v>794</c:v>
                </c:pt>
                <c:pt idx="25">
                  <c:v>507</c:v>
                </c:pt>
                <c:pt idx="26">
                  <c:v>362</c:v>
                </c:pt>
                <c:pt idx="27">
                  <c:v>356</c:v>
                </c:pt>
                <c:pt idx="28">
                  <c:v>252</c:v>
                </c:pt>
                <c:pt idx="29">
                  <c:v>216</c:v>
                </c:pt>
                <c:pt idx="30">
                  <c:v>201</c:v>
                </c:pt>
                <c:pt idx="31">
                  <c:v>11</c:v>
                </c:pt>
                <c:pt idx="32">
                  <c:v>7</c:v>
                </c:pt>
                <c:pt idx="3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State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Number of Sales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8</c:v>
                </c:pt>
                <c:pt idx="1">
                  <c:v>14</c:v>
                </c:pt>
                <c:pt idx="2">
                  <c:v>20</c:v>
                </c:pt>
                <c:pt idx="3">
                  <c:v>27</c:v>
                </c:pt>
                <c:pt idx="4">
                  <c:v>54</c:v>
                </c:pt>
                <c:pt idx="5">
                  <c:v>122</c:v>
                </c:pt>
                <c:pt idx="6">
                  <c:v>131</c:v>
                </c:pt>
                <c:pt idx="7">
                  <c:v>206</c:v>
                </c:pt>
                <c:pt idx="8">
                  <c:v>304</c:v>
                </c:pt>
                <c:pt idx="9">
                  <c:v>520</c:v>
                </c:pt>
                <c:pt idx="10">
                  <c:v>745</c:v>
                </c:pt>
                <c:pt idx="11">
                  <c:v>1107</c:v>
                </c:pt>
                <c:pt idx="12">
                  <c:v>1729</c:v>
                </c:pt>
                <c:pt idx="13">
                  <c:v>2249</c:v>
                </c:pt>
                <c:pt idx="14">
                  <c:v>2931</c:v>
                </c:pt>
                <c:pt idx="15">
                  <c:v>3660</c:v>
                </c:pt>
                <c:pt idx="16">
                  <c:v>4590</c:v>
                </c:pt>
                <c:pt idx="17">
                  <c:v>5449</c:v>
                </c:pt>
                <c:pt idx="18">
                  <c:v>5886</c:v>
                </c:pt>
                <c:pt idx="19">
                  <c:v>3884</c:v>
                </c:pt>
                <c:pt idx="20">
                  <c:v>4773</c:v>
                </c:pt>
                <c:pt idx="21">
                  <c:v>9161</c:v>
                </c:pt>
                <c:pt idx="22">
                  <c:v>18237</c:v>
                </c:pt>
                <c:pt idx="23">
                  <c:v>17831</c:v>
                </c:pt>
                <c:pt idx="24">
                  <c:v>15103</c:v>
                </c:pt>
                <c:pt idx="25">
                  <c:v>1259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Manufacturing 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Number of Sales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2E75B6"/>
            </a:solidFill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581.25</c:v>
                </c:pt>
                <c:pt idx="1">
                  <c:v>1385.71428571429</c:v>
                </c:pt>
                <c:pt idx="2">
                  <c:v>543.75</c:v>
                </c:pt>
                <c:pt idx="3">
                  <c:v>832.407407407407</c:v>
                </c:pt>
                <c:pt idx="4">
                  <c:v>946.759259259259</c:v>
                </c:pt>
                <c:pt idx="5">
                  <c:v>881.967213114754</c:v>
                </c:pt>
                <c:pt idx="6">
                  <c:v>887.404580152672</c:v>
                </c:pt>
                <c:pt idx="7">
                  <c:v>1135.67961165049</c:v>
                </c:pt>
                <c:pt idx="8">
                  <c:v>1305.18092105263</c:v>
                </c:pt>
                <c:pt idx="9">
                  <c:v>1515.625</c:v>
                </c:pt>
                <c:pt idx="10">
                  <c:v>1677.78523489933</c:v>
                </c:pt>
                <c:pt idx="11">
                  <c:v>2172.04155374887</c:v>
                </c:pt>
                <c:pt idx="12">
                  <c:v>2645.8993637941</c:v>
                </c:pt>
                <c:pt idx="13">
                  <c:v>3441.78568252557</c:v>
                </c:pt>
                <c:pt idx="14">
                  <c:v>4242.16990788127</c:v>
                </c:pt>
                <c:pt idx="15">
                  <c:v>4800.02322404372</c:v>
                </c:pt>
                <c:pt idx="16">
                  <c:v>5995.59368191721</c:v>
                </c:pt>
                <c:pt idx="17">
                  <c:v>7728.95026610387</c:v>
                </c:pt>
                <c:pt idx="18">
                  <c:v>9539.05793408087</c:v>
                </c:pt>
                <c:pt idx="19">
                  <c:v>10139.0074665294</c:v>
                </c:pt>
                <c:pt idx="20">
                  <c:v>12093.6821705426</c:v>
                </c:pt>
                <c:pt idx="21">
                  <c:v>15787.9524069425</c:v>
                </c:pt>
                <c:pt idx="22">
                  <c:v>16397.035915995</c:v>
                </c:pt>
                <c:pt idx="23">
                  <c:v>17434.5004766979</c:v>
                </c:pt>
                <c:pt idx="24">
                  <c:v>19796.4767926902</c:v>
                </c:pt>
                <c:pt idx="25">
                  <c:v>26195.8697378872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3D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Manufacturing 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Average Selling Price ($)</a:t>
                </a:r>
              </a:p>
            </c:rich>
          </c:tx>
          <c:layout/>
          <c:overlay val="0"/>
        </c:title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January 2014</c:v>
                  </c:pt>
                  <c:pt idx="1">
                    <c:v>December 2014</c:v>
                  </c:pt>
                  <c:pt idx="2">
                    <c:v>January 2015</c:v>
                  </c:pt>
                  <c:pt idx="3">
                    <c:v>February 2015</c:v>
                  </c:pt>
                  <c:pt idx="4">
                    <c:v>March 2015</c:v>
                  </c:pt>
                  <c:pt idx="5">
                    <c:v>April 2015</c:v>
                  </c:pt>
                  <c:pt idx="6">
                    <c:v>May 2015</c:v>
                  </c:pt>
                  <c:pt idx="7">
                    <c:v>June 2015</c:v>
                  </c:pt>
                  <c:pt idx="8">
                    <c:v>July 2015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</c:v>
                </c:pt>
                <c:pt idx="1">
                  <c:v>10051</c:v>
                </c:pt>
                <c:pt idx="2">
                  <c:v>30514</c:v>
                </c:pt>
                <c:pt idx="3">
                  <c:v>35345</c:v>
                </c:pt>
                <c:pt idx="4">
                  <c:v>10285</c:v>
                </c:pt>
                <c:pt idx="5">
                  <c:v>310</c:v>
                </c:pt>
                <c:pt idx="6">
                  <c:v>9554</c:v>
                </c:pt>
                <c:pt idx="7">
                  <c:v>3711</c:v>
                </c:pt>
                <c:pt idx="8">
                  <c:v>190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3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Number of Sales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Sedan</c:v>
                  </c:pt>
                  <c:pt idx="1">
                    <c:v>SUV</c:v>
                  </c:pt>
                  <c:pt idx="2">
                    <c:v>Hatchback</c:v>
                  </c:pt>
                  <c:pt idx="3">
                    <c:v>Minivan</c:v>
                  </c:pt>
                  <c:pt idx="4">
                    <c:v>Coupe</c:v>
                  </c:pt>
                  <c:pt idx="5">
                    <c:v>Wagon</c:v>
                  </c:pt>
                  <c:pt idx="6">
                    <c:v>Crew Cab</c:v>
                  </c:pt>
                  <c:pt idx="7">
                    <c:v>Convertible</c:v>
                  </c:pt>
                  <c:pt idx="8">
                    <c:v>SuperCrew</c:v>
                  </c:pt>
                  <c:pt idx="9">
                    <c:v>G Sedan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44622</c:v>
                </c:pt>
                <c:pt idx="1">
                  <c:v>25567</c:v>
                </c:pt>
                <c:pt idx="2">
                  <c:v>5080</c:v>
                </c:pt>
                <c:pt idx="3">
                  <c:v>4674</c:v>
                </c:pt>
                <c:pt idx="4">
                  <c:v>3397</c:v>
                </c:pt>
                <c:pt idx="5">
                  <c:v>3082</c:v>
                </c:pt>
                <c:pt idx="6">
                  <c:v>2969</c:v>
                </c:pt>
                <c:pt idx="7">
                  <c:v>1992</c:v>
                </c:pt>
                <c:pt idx="8">
                  <c:v>1586</c:v>
                </c:pt>
                <c:pt idx="9">
                  <c:v>1450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Body Type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7F"/>
                    </a:solidFill>
                    <a:latin typeface="Arial"/>
                  </a:rPr>
                  <a:t>Number of Sales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Top 10 Makes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$#,##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Lexus</c:v>
                  </c:pt>
                  <c:pt idx="1">
                    <c:v>Honda</c:v>
                  </c:pt>
                  <c:pt idx="2">
                    <c:v>Infiniti</c:v>
                  </c:pt>
                  <c:pt idx="3">
                    <c:v>Mercedes-Benz</c:v>
                  </c:pt>
                  <c:pt idx="4">
                    <c:v>Dodge</c:v>
                  </c:pt>
                  <c:pt idx="5">
                    <c:v>BMW</c:v>
                  </c:pt>
                  <c:pt idx="6">
                    <c:v>Toyota</c:v>
                  </c:pt>
                  <c:pt idx="7">
                    <c:v>Nissan</c:v>
                  </c:pt>
                  <c:pt idx="8">
                    <c:v>Chevrolet</c:v>
                  </c:pt>
                  <c:pt idx="9">
                    <c:v>Ford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43953650</c:v>
                </c:pt>
                <c:pt idx="1">
                  <c:v>57258900</c:v>
                </c:pt>
                <c:pt idx="2">
                  <c:v>60470532</c:v>
                </c:pt>
                <c:pt idx="3">
                  <c:v>61106456</c:v>
                </c:pt>
                <c:pt idx="4">
                  <c:v>63300173</c:v>
                </c:pt>
                <c:pt idx="5">
                  <c:v>77541004</c:v>
                </c:pt>
                <c:pt idx="6">
                  <c:v>91067109</c:v>
                </c:pt>
                <c:pt idx="7">
                  <c:v>107718781</c:v>
                </c:pt>
                <c:pt idx="8">
                  <c:v>136585318</c:v>
                </c:pt>
                <c:pt idx="9">
                  <c:v>259949030</c:v>
                </c:pt>
              </c:numCache>
            </c:numRef>
          </c:val>
        </c:ser>
        <c:dLbls>
          <c:numFmt formatCode="$#,##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Sales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Sheet1!$A$2:$A$35</c:f>
              <c:multiLvlStrCache>
                <c:ptCount val="34"/>
                <c:lvl>
                  <c:pt idx="0">
                    <c:v>FL</c:v>
                  </c:pt>
                  <c:pt idx="1">
                    <c:v>CA</c:v>
                  </c:pt>
                  <c:pt idx="2">
                    <c:v>TX</c:v>
                  </c:pt>
                  <c:pt idx="3">
                    <c:v>GA</c:v>
                  </c:pt>
                  <c:pt idx="4">
                    <c:v>PA</c:v>
                  </c:pt>
                  <c:pt idx="5">
                    <c:v>IL</c:v>
                  </c:pt>
                  <c:pt idx="6">
                    <c:v>NJ</c:v>
                  </c:pt>
                  <c:pt idx="7">
                    <c:v>OH</c:v>
                  </c:pt>
                  <c:pt idx="8">
                    <c:v>TN</c:v>
                  </c:pt>
                  <c:pt idx="9">
                    <c:v>NC</c:v>
                  </c:pt>
                  <c:pt idx="10">
                    <c:v>MO</c:v>
                  </c:pt>
                  <c:pt idx="11">
                    <c:v>MI</c:v>
                  </c:pt>
                  <c:pt idx="12">
                    <c:v>NV</c:v>
                  </c:pt>
                  <c:pt idx="13">
                    <c:v>MD</c:v>
                  </c:pt>
                  <c:pt idx="14">
                    <c:v>VA</c:v>
                  </c:pt>
                  <c:pt idx="15">
                    <c:v>WI</c:v>
                  </c:pt>
                  <c:pt idx="16">
                    <c:v>MN</c:v>
                  </c:pt>
                  <c:pt idx="17">
                    <c:v>AZ</c:v>
                  </c:pt>
                  <c:pt idx="18">
                    <c:v>WA</c:v>
                  </c:pt>
                  <c:pt idx="19">
                    <c:v>CO</c:v>
                  </c:pt>
                  <c:pt idx="20">
                    <c:v>MA</c:v>
                  </c:pt>
                  <c:pt idx="21">
                    <c:v>NY</c:v>
                  </c:pt>
                  <c:pt idx="22">
                    <c:v>SC</c:v>
                  </c:pt>
                  <c:pt idx="23">
                    <c:v>NE</c:v>
                  </c:pt>
                  <c:pt idx="24">
                    <c:v>IN</c:v>
                  </c:pt>
                  <c:pt idx="25">
                    <c:v>PR</c:v>
                  </c:pt>
                  <c:pt idx="26">
                    <c:v>UT</c:v>
                  </c:pt>
                  <c:pt idx="27">
                    <c:v>LA</c:v>
                  </c:pt>
                  <c:pt idx="28">
                    <c:v>HI</c:v>
                  </c:pt>
                  <c:pt idx="29">
                    <c:v>OR</c:v>
                  </c:pt>
                  <c:pt idx="30">
                    <c:v>MS</c:v>
                  </c:pt>
                  <c:pt idx="31">
                    <c:v>NM</c:v>
                  </c:pt>
                  <c:pt idx="32">
                    <c:v>OK</c:v>
                  </c:pt>
                  <c:pt idx="33">
                    <c:v>AL</c:v>
                  </c:pt>
                </c:lvl>
              </c:multiLvlStrCache>
            </c:multiLvl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15501</c:v>
                </c:pt>
                <c:pt idx="1">
                  <c:v>14746</c:v>
                </c:pt>
                <c:pt idx="2">
                  <c:v>8766</c:v>
                </c:pt>
                <c:pt idx="3">
                  <c:v>6560</c:v>
                </c:pt>
                <c:pt idx="4">
                  <c:v>5121</c:v>
                </c:pt>
                <c:pt idx="5">
                  <c:v>4657</c:v>
                </c:pt>
                <c:pt idx="6">
                  <c:v>4618</c:v>
                </c:pt>
                <c:pt idx="7">
                  <c:v>4326</c:v>
                </c:pt>
                <c:pt idx="8">
                  <c:v>4244</c:v>
                </c:pt>
                <c:pt idx="9">
                  <c:v>4071</c:v>
                </c:pt>
                <c:pt idx="10">
                  <c:v>3240</c:v>
                </c:pt>
                <c:pt idx="11">
                  <c:v>2948</c:v>
                </c:pt>
                <c:pt idx="12">
                  <c:v>2440</c:v>
                </c:pt>
                <c:pt idx="13">
                  <c:v>2173</c:v>
                </c:pt>
                <c:pt idx="14">
                  <c:v>2114</c:v>
                </c:pt>
                <c:pt idx="15">
                  <c:v>1911</c:v>
                </c:pt>
                <c:pt idx="16">
                  <c:v>1814</c:v>
                </c:pt>
                <c:pt idx="17">
                  <c:v>1556</c:v>
                </c:pt>
                <c:pt idx="18">
                  <c:v>1451</c:v>
                </c:pt>
                <c:pt idx="19">
                  <c:v>1244</c:v>
                </c:pt>
                <c:pt idx="20">
                  <c:v>1220</c:v>
                </c:pt>
                <c:pt idx="21">
                  <c:v>954</c:v>
                </c:pt>
                <c:pt idx="22">
                  <c:v>809</c:v>
                </c:pt>
                <c:pt idx="23">
                  <c:v>807</c:v>
                </c:pt>
                <c:pt idx="24">
                  <c:v>794</c:v>
                </c:pt>
                <c:pt idx="25">
                  <c:v>507</c:v>
                </c:pt>
                <c:pt idx="26">
                  <c:v>362</c:v>
                </c:pt>
                <c:pt idx="27">
                  <c:v>356</c:v>
                </c:pt>
                <c:pt idx="28">
                  <c:v>252</c:v>
                </c:pt>
                <c:pt idx="29">
                  <c:v>216</c:v>
                </c:pt>
                <c:pt idx="30">
                  <c:v>201</c:v>
                </c:pt>
                <c:pt idx="31">
                  <c:v>11</c:v>
                </c:pt>
                <c:pt idx="32">
                  <c:v>7</c:v>
                </c:pt>
                <c:pt idx="3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Monthly Sales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January 2014</c:v>
                  </c:pt>
                  <c:pt idx="1">
                    <c:v>December 2014</c:v>
                  </c:pt>
                  <c:pt idx="2">
                    <c:v>January 2015</c:v>
                  </c:pt>
                  <c:pt idx="3">
                    <c:v>February 2015</c:v>
                  </c:pt>
                  <c:pt idx="4">
                    <c:v>March 2015</c:v>
                  </c:pt>
                  <c:pt idx="5">
                    <c:v>April 2015</c:v>
                  </c:pt>
                  <c:pt idx="6">
                    <c:v>May 2015</c:v>
                  </c:pt>
                  <c:pt idx="7">
                    <c:v>June 2015</c:v>
                  </c:pt>
                  <c:pt idx="8">
                    <c:v>July 2015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</c:v>
                </c:pt>
                <c:pt idx="1">
                  <c:v>10051</c:v>
                </c:pt>
                <c:pt idx="2">
                  <c:v>30514</c:v>
                </c:pt>
                <c:pt idx="3">
                  <c:v>35345</c:v>
                </c:pt>
                <c:pt idx="4">
                  <c:v>10285</c:v>
                </c:pt>
                <c:pt idx="5">
                  <c:v>310</c:v>
                </c:pt>
                <c:pt idx="6">
                  <c:v>9554</c:v>
                </c:pt>
                <c:pt idx="7">
                  <c:v>3711</c:v>
                </c:pt>
                <c:pt idx="8">
                  <c:v>190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3D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7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Average Selling Price by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2E75B6"/>
            </a:solidFill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581.25</c:v>
                </c:pt>
                <c:pt idx="1">
                  <c:v>1385.71428571429</c:v>
                </c:pt>
                <c:pt idx="2">
                  <c:v>543.75</c:v>
                </c:pt>
                <c:pt idx="3">
                  <c:v>832.407407407407</c:v>
                </c:pt>
                <c:pt idx="4">
                  <c:v>946.759259259259</c:v>
                </c:pt>
                <c:pt idx="5">
                  <c:v>881.967213114754</c:v>
                </c:pt>
                <c:pt idx="6">
                  <c:v>887.404580152672</c:v>
                </c:pt>
                <c:pt idx="7">
                  <c:v>1135.67961165049</c:v>
                </c:pt>
                <c:pt idx="8">
                  <c:v>1305.18092105263</c:v>
                </c:pt>
                <c:pt idx="9">
                  <c:v>1515.625</c:v>
                </c:pt>
                <c:pt idx="10">
                  <c:v>1677.78523489933</c:v>
                </c:pt>
                <c:pt idx="11">
                  <c:v>2172.04155374887</c:v>
                </c:pt>
                <c:pt idx="12">
                  <c:v>2645.8993637941</c:v>
                </c:pt>
                <c:pt idx="13">
                  <c:v>3441.78568252557</c:v>
                </c:pt>
                <c:pt idx="14">
                  <c:v>4242.16990788127</c:v>
                </c:pt>
                <c:pt idx="15">
                  <c:v>4800.02322404372</c:v>
                </c:pt>
                <c:pt idx="16">
                  <c:v>5995.59368191721</c:v>
                </c:pt>
                <c:pt idx="17">
                  <c:v>7728.95026610387</c:v>
                </c:pt>
                <c:pt idx="18">
                  <c:v>9539.05793408087</c:v>
                </c:pt>
                <c:pt idx="19">
                  <c:v>10139.0074665294</c:v>
                </c:pt>
                <c:pt idx="20">
                  <c:v>12093.6821705426</c:v>
                </c:pt>
                <c:pt idx="21">
                  <c:v>15787.9524069425</c:v>
                </c:pt>
                <c:pt idx="22">
                  <c:v>16397.035915995</c:v>
                </c:pt>
                <c:pt idx="23">
                  <c:v>17434.5004766979</c:v>
                </c:pt>
                <c:pt idx="24">
                  <c:v>19796.4767926902</c:v>
                </c:pt>
                <c:pt idx="25">
                  <c:v>26195.8697378872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3D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7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Top 10 Body Types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F2D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Sedan</c:v>
                  </c:pt>
                  <c:pt idx="1">
                    <c:v>SUV</c:v>
                  </c:pt>
                  <c:pt idx="2">
                    <c:v>Hatchback</c:v>
                  </c:pt>
                  <c:pt idx="3">
                    <c:v>Minivan</c:v>
                  </c:pt>
                  <c:pt idx="4">
                    <c:v>Coupe</c:v>
                  </c:pt>
                  <c:pt idx="5">
                    <c:v>Wagon</c:v>
                  </c:pt>
                  <c:pt idx="6">
                    <c:v>Crew Cab</c:v>
                  </c:pt>
                  <c:pt idx="7">
                    <c:v>Convertible</c:v>
                  </c:pt>
                  <c:pt idx="8">
                    <c:v>SuperCrew</c:v>
                  </c:pt>
                  <c:pt idx="9">
                    <c:v>G Sedan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44622</c:v>
                </c:pt>
                <c:pt idx="1">
                  <c:v>25567</c:v>
                </c:pt>
                <c:pt idx="2">
                  <c:v>5080</c:v>
                </c:pt>
                <c:pt idx="3">
                  <c:v>4674</c:v>
                </c:pt>
                <c:pt idx="4">
                  <c:v>3397</c:v>
                </c:pt>
                <c:pt idx="5">
                  <c:v>3082</c:v>
                </c:pt>
                <c:pt idx="6">
                  <c:v>2969</c:v>
                </c:pt>
                <c:pt idx="7">
                  <c:v>1992</c:v>
                </c:pt>
                <c:pt idx="8">
                  <c:v>1586</c:v>
                </c:pt>
                <c:pt idx="9">
                  <c:v>1450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F2D3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7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Motors — Car Sales Analysis  |  Ethaba Mhlongo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75B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chart" Target="/ppt/charts/chart11.xml"/><Relationship Id="rId5" Type="http://schemas.openxmlformats.org/officeDocument/2006/relationships/chart" Target="/ppt/charts/chart1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MOTORS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Analysis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Project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Ethaba Mhlongo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3212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2286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analysis of vehicle sales for Bright Motors, built into an Excel workbook with pivot tables, graphs and a dashboard.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280160"/>
            <a:ext cx="91440" cy="2286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630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vehicle sales (one row per sale) with 19 fields, from December 2014 to July 2015. It covers 51 makes, 703 models and 34 states.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553212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94760"/>
            <a:ext cx="91440" cy="2286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purpose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summarise car sales performance in a clear, simple way for the Head of Sales.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72200" y="3794760"/>
            <a:ext cx="553212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3794760"/>
            <a:ext cx="91440" cy="2286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9776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wanted to understand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makes and models bring in the most revenue, where and when vehicles sell, which body types and model years sell most, and how mileage relates to price.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97480" cy="3154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974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and clean the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transform and analyse the dataset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data needed for the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97480" cy="3154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88720"/>
            <a:ext cx="269748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188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745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tables on the cleaned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 and charts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dashboard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97480" cy="3154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26974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188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745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during the project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ideas, presentation structure, interpreting findings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Organising the project and communicating results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1188720"/>
            <a:ext cx="2697480" cy="3154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1188720"/>
            <a:ext cx="269748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0" y="1188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18745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project planning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1481328" cy="868680"/>
          </a:xfrm>
          <a:prstGeom prst="homePlate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493776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93976" y="4937760"/>
            <a:ext cx="1481328" cy="868680"/>
          </a:xfrm>
          <a:prstGeom prst="homePlat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39696" y="493776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30752" y="4937760"/>
            <a:ext cx="1481328" cy="868680"/>
          </a:xfrm>
          <a:prstGeom prst="homePlat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76472" y="493776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67528" y="4937760"/>
            <a:ext cx="1481328" cy="868680"/>
          </a:xfrm>
          <a:prstGeom prst="homePlat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13248" y="493776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Pivot Tables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04304" y="4937760"/>
            <a:ext cx="1481328" cy="868680"/>
          </a:xfrm>
          <a:prstGeom prst="homePlat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50024" y="493776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Graphs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41080" y="4937760"/>
            <a:ext cx="1481328" cy="868680"/>
          </a:xfrm>
          <a:prstGeom prst="homePlat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0" y="493776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277856" y="4937760"/>
            <a:ext cx="1481328" cy="868680"/>
          </a:xfrm>
          <a:prstGeom prst="homePlate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23576" y="493776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Car Makes by Total Revenue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188720"/>
            <a:ext cx="3410712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2801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(sum of selling price) for the 15 makes with the highest revenue.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3520440"/>
            <a:ext cx="3410712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361188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leads with $259.9M, almost double Chevrolet ($136.6M). Ford, Chevrolet and Nissan together make up 37.2% of total revenue.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Car Models by Total Revenue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188720"/>
            <a:ext cx="3410712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2801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for the 15 models with the highest revenue.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3520440"/>
            <a:ext cx="3410712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361188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F-150 is the top model at $49.0M, followed by Altima ($39.7M) and Escape ($33.0M).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Region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188720"/>
            <a:ext cx="3410712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2801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vehicles sold in each state.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3520440"/>
            <a:ext cx="3410712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361188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(15,501) and CA (14,746) record the most sales. The top five states (FL, CA, TX, GA, PA) account for 50.7% of all sales.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Manufacturing Year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188720"/>
            <a:ext cx="3410712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2801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vehicles sold for each manufacturing year.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3520440"/>
            <a:ext cx="3410712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361188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from 2012 have the most sales (18,237). Model years 2012 to 2015 together make up 52.4% of sales.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Selling Price by Year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188720"/>
            <a:ext cx="3410712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2801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selling price for each manufacturing year.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3520440"/>
            <a:ext cx="3410712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361188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price rises with newer vehicles: $581 for 1990 models, $16,397 for 2012 and $26,196 for 2015.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Trend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188720"/>
            <a:ext cx="3410712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2801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vehicles sold in each month of the data.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3520440"/>
            <a:ext cx="3410712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361188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2015 is the highest month (35,345 sales), then January 2015 (30,514). April 2015 (310) and July 2015 (190) are the lowest of the main months.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Body Types by Number of Sales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75895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188720"/>
            <a:ext cx="3410712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2801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vehicles sold for the 10 most common body types.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3520440"/>
            <a:ext cx="3410712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361188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 (44,622) and SUV (25,567) are the most sold body types, together 70.2% of all sales.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 vs Selling Price</a:t>
            </a:r>
            <a:endParaRPr lang="en-US" sz="2600" dirty="0"/>
          </a:p>
        </p:txBody>
      </p:sp>
      <p:pic>
        <p:nvPicPr>
          <p:cNvPr id="3" name="Image 0" descr="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7589520" cy="3035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1188720"/>
            <a:ext cx="3410712" cy="21488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2801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point is one sale: odometer reading against selling price. Axis shown to 400,000 miles.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21040" y="3520440"/>
            <a:ext cx="3410712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361188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prices are highest for low-mileage vehicles and fall as mileage increases. Vehicles under 20,000 miles average $21,038; those over 150,000 miles average $3,318.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783080" cy="868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7830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350008" y="1051560"/>
            <a:ext cx="1783080" cy="868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0008" y="1051560"/>
            <a:ext cx="17830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50008" y="1143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$1,357,115,159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42816" y="1051560"/>
            <a:ext cx="1783080" cy="868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2816" y="1051560"/>
            <a:ext cx="17830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42816" y="1143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SELLING PRICE</a:t>
            </a:r>
            <a:endParaRPr lang="en-US" sz="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$13,571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35624" y="1051560"/>
            <a:ext cx="1783080" cy="868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35624" y="1051560"/>
            <a:ext cx="17830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35624" y="1143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MILEAGE</a:t>
            </a:r>
            <a:endParaRPr lang="en-US" sz="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67,103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28432" y="1051560"/>
            <a:ext cx="1783080" cy="868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1051560"/>
            <a:ext cx="17830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28432" y="1143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MAKES</a:t>
            </a:r>
            <a:endParaRPr lang="en-US" sz="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921240" y="1051560"/>
            <a:ext cx="1783080" cy="86868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21240" y="1051560"/>
            <a:ext cx="17830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21240" y="1143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MODELS</a:t>
            </a:r>
            <a:endParaRPr lang="en-US" sz="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703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057400"/>
          <a:ext cx="3657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4251960" y="2057400"/>
          <a:ext cx="3657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" descr=""/>
          <p:cNvGraphicFramePr/>
          <p:nvPr/>
        </p:nvGraphicFramePr>
        <p:xfrm>
          <a:off x="8046720" y="2057400"/>
          <a:ext cx="3657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4" name="Chart 3" descr=""/>
          <p:cNvGraphicFramePr/>
          <p:nvPr/>
        </p:nvGraphicFramePr>
        <p:xfrm>
          <a:off x="457200" y="4389120"/>
          <a:ext cx="3657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5" name="Chart 4" descr=""/>
          <p:cNvGraphicFramePr/>
          <p:nvPr/>
        </p:nvGraphicFramePr>
        <p:xfrm>
          <a:off x="4251960" y="4389120"/>
          <a:ext cx="3657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Shape 19"/>
          <p:cNvSpPr/>
          <p:nvPr/>
        </p:nvSpPr>
        <p:spPr>
          <a:xfrm>
            <a:off x="8046720" y="4389120"/>
            <a:ext cx="3657600" cy="2011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229600" y="44805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Ford, Chevrolet and Nissan lead revenue (37.2%)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FL, CA, TX, GA, PA make up 50.7% of sales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sales fall in Dec 2014 to Feb 2015 (75.9%)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Sedans and SUVs are 70.2% of sales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Key Insights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32120" cy="3931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Ford, Chevrolet and Nissan generate 37.2% of total revenue; F-150 is the top model.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FL, CA, TX, GA, PA account for 50.7% of sales.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Sedans and SUVs make up 70.2% of sales.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75.9% of sales fall between December 2014 and February 2015.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model years sell at higher average prices; higher mileage goes with lower prices.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5321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188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532120" cy="39319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87452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stock and promotion for the top makes and models: Ford, Chevrolet, Nissan; F-150, Altima, Escape.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sales effort on FL, CA, TX, GA, PA.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sedans and SUVs as the core of the inventory mix.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why April (310) and July 2015 (190) are so low before planning around seasonality.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model year and mileage when setting prices.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37490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sales generated $1,357,115,159 in revenue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leads revenue; F-150 is the top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and CA lead sales by region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Sedans and SUVs dominate sales; most sales fall in Dec 2014 to Feb 2015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Newer, lower-mileage vehicles sell at higher prices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72200" y="1188720"/>
            <a:ext cx="5532120" cy="37490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37160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tool contributed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inspected, cleaned and prepared the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tables, graphs and the dashboard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ideas, interpreting findings and communicating results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5166360"/>
            <a:ext cx="11247120" cy="10515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shows an end-to-end data analytics process: cleaning data in SQL, analysing and visualising it in Excel, and turning the results into clear insights.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ght Motors">
  <a:themeElements>
    <a:clrScheme name="Bright Motors">
      <a:dk1>
        <a:srgbClr val="1F2D3D"/>
      </a:dk1>
      <a:lt1>
        <a:srgbClr val="FFFFFF"/>
      </a:lt1>
      <a:dk2>
        <a:srgbClr val="0B2545"/>
      </a:dk2>
      <a:lt2>
        <a:srgbClr val="EAF1F8"/>
      </a:lt2>
      <a:accent1>
        <a:srgbClr val="1F4E79"/>
      </a:accent1>
      <a:accent2>
        <a:srgbClr val="2E75B6"/>
      </a:accent2>
      <a:accent3>
        <a:srgbClr val="5B9BD5"/>
      </a:accent3>
      <a:accent4>
        <a:srgbClr val="9DC3E6"/>
      </a:accent4>
      <a:accent5>
        <a:srgbClr val="5B6B7F"/>
      </a:accent5>
      <a:accent6>
        <a:srgbClr val="0B2545"/>
      </a:accent6>
      <a:hlink>
        <a:srgbClr val="2E75B6"/>
      </a:hlink>
      <a:folHlink>
        <a:srgbClr val="5B6B7F"/>
      </a:folHlink>
    </a:clrScheme>
    <a:fontScheme name="Bright Motor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Motors — Car Sales Analysis</dc:title>
  <dc:subject>PptxGenJS Presentation</dc:subject>
  <dc:creator>Ethaba Mhlongo</dc:creator>
  <cp:lastModifiedBy>Ethaba Mhlongo</cp:lastModifiedBy>
  <cp:revision>1</cp:revision>
  <dcterms:created xsi:type="dcterms:W3CDTF">2026-10-03T13:53:07Z</dcterms:created>
  <dcterms:modified xsi:type="dcterms:W3CDTF">2026-10-03T13:53:07Z</dcterms:modified>
</cp:coreProperties>
</file>